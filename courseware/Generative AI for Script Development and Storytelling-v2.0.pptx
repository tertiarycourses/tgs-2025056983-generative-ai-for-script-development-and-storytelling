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478" r:id="rId229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question-to-resolution trace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relationship-state changes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documented human contribution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hard-rule pass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prompt field completeness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variance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subtext-bearing line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54</c:v>
                </c:pt>
                <c:pt idx="2">
                  <c:v>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information units per minute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defect 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46</c:v>
                </c:pt>
                <c:pt idx="2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outcome asymmetry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trace completeness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audit completeness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evidence density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cleared audio 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release-gate pass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ipt-to-screen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72511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257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481328"/>
            <a:ext cx="42976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WSQ  ·  AI CONTENT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44348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182840"/>
                </a:solidFill>
                <a:latin typeface="Aptos"/>
              </a:defRPr>
            </a:pPr>
            <a:r>
              <a:t>Generative AI for Script Development and Storytelling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87952"/>
            <a:ext cx="4206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D2A37"/>
                </a:solidFill>
                <a:latin typeface="Aptos"/>
              </a:defRPr>
            </a:pPr>
            <a:r>
              <a:t>TGS-2025056983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18304"/>
            <a:ext cx="42976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36570"/>
                </a:solidFill>
                <a:latin typeface="Aptos"/>
              </a:defRPr>
            </a:pPr>
            <a:r>
              <a:t>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42976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v2.0  ·  19 September 2026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TRAQOM · BEFORE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Scan the trainer-provided QR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second session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assessment attendance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LMS-TMS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Open your enrolled course in LMS-TMS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LEARNER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Use the Learner Guide folder and slide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Open the matching numbered lab folder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804672" y="523036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800" b="1">
                <a:solidFill>
                  <a:srgbClr val="008B8B"/>
                </a:solidFill>
                <a:latin typeface="Aptos"/>
              </a:defRPr>
            </a:pPr>
            <a: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PROFILE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Your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01952"/>
            <a:ext cx="4709160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91440" cy="3977639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4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TRAINER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251960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[Trainer name]</a:t>
            </a:r>
            <a:br/>
            <a:r>
              <a:t>Script development, storytelling and generative media facilitator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901952"/>
            <a:ext cx="5961888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1901952"/>
            <a:ext cx="91440" cy="3977639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66544"/>
            <a:ext cx="550468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CLASS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14600"/>
            <a:ext cx="5504688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[Trainer email]</a:t>
            </a:r>
            <a:br/>
            <a:r>
              <a:t>Ask for review of the story, continuity and rights packet before treating an asset as approved.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01952"/>
            <a:ext cx="4709160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91440" cy="3977639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4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COURSE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251960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 Alfred Ang</a:t>
            </a:r>
            <a:br/>
            <a:r>
              <a:t>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901952"/>
            <a:ext cx="5961888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1901952"/>
            <a:ext cx="91440" cy="3977639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66544"/>
            <a:ext cx="550468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LEARNING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14600"/>
            <a:ext cx="5504688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Human creative direction, narrative craft, multimodal continuity and responsible AI production.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Learning outcomes and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1572768"/>
            <a:ext cx="5358384" cy="139903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572768"/>
            <a:ext cx="91440" cy="13990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37360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85416"/>
            <a:ext cx="4901184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1D2A37"/>
                </a:solidFill>
                <a:latin typeface="Aptos"/>
              </a:defRPr>
            </a:pPr>
            <a:r>
              <a:t>LO1: Use generative AI techniques to develop compelling script elements enriched with narrative structure and creative storytelling.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572768"/>
            <a:ext cx="5358384" cy="139903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7336" y="1572768"/>
            <a:ext cx="91440" cy="1399032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37360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185416"/>
            <a:ext cx="4901184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1D2A37"/>
                </a:solidFill>
                <a:latin typeface="Aptos"/>
              </a:defRPr>
            </a:pPr>
            <a:r>
              <a:t>LO2: Identify effective prompt terms and narrative components to enhance AI-generated storyboards for visual storytelling.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" y="3145536"/>
            <a:ext cx="5358384" cy="139903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" y="3145536"/>
            <a:ext cx="91440" cy="13990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310128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758184"/>
            <a:ext cx="4901184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1D2A37"/>
                </a:solidFill>
                <a:latin typeface="Aptos"/>
              </a:defRPr>
            </a:pPr>
            <a:r>
              <a:t>LO3: Utilise generative AI tools to refine video scripts for clarity, tone, and narrative consistency.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7336" y="3145536"/>
            <a:ext cx="5358384" cy="139903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7336" y="3145536"/>
            <a:ext cx="91440" cy="1399032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310128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758184"/>
            <a:ext cx="4901184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1D2A37"/>
                </a:solidFill>
                <a:latin typeface="Aptos"/>
              </a:defRPr>
            </a:pPr>
            <a:r>
              <a:t>LO4: Analyse generative AI outputs for ethical issues, bias, and copyright risks, applying appropriate corrective 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" y="4718304"/>
            <a:ext cx="5358384" cy="139903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" y="4718304"/>
            <a:ext cx="91440" cy="13990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882896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LO5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330952"/>
            <a:ext cx="4901184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1D2A37"/>
                </a:solidFill>
                <a:latin typeface="Aptos"/>
              </a:defRPr>
            </a:pPr>
            <a:r>
              <a:t>LO5: Identify copyright risks in generative AI production and apply corrective actions to avoid copyright infringement.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SCRIPT-TO-SCREEN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Human-directed generative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creator defines story intent and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AI proposes structured text, image and audio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reviews continuity, ethics, rights and release evidence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ASSESSMENT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Visit exams.tertiaryinfotech.com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Use the matching course practice assessment when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answers against slides, Learner Guide and lab evidence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804672" y="523036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800" b="1">
                <a:solidFill>
                  <a:srgbClr val="008B8B"/>
                </a:solidFill>
                <a:latin typeface="Aptos"/>
              </a:defRPr>
            </a:pPr>
            <a:r>
              <a:t>https://exams.tertiaryinfotech.com/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LO1 · MED-MED-3004-1.1 AI CONTENT GENERATION FOR SCRIPT DEVELOPMENT-3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1: Story architecture, world-building and character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9" name="Picture 8" descr="story-architecture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LO1: Use generative AI techniques to develop compelling script elements enriched with narrative structure and creative storytelling.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Premise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creative brief and audience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compress protagonist, goal, obstacle, stakes and change into one causal sentence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every clause must affect the central conflict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Premise contract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creative brief and audience need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compress protagonist, goal, obstacle, stakes and change into one causal sentence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premise record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premise field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every clause must affect the central conflict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Premise contract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theme without dramatic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premise field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Premise contract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creative brief and audience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field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 question and controlling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and intended audience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frame the uncertain dramatic question and the value change the ending 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spine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ending must answer the opening question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 question and controlling idea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premise and intended audience effect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frame the uncertain dramatic question and the value change the ending proves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story spine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question-to-resolution trace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ending must answer the opening question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 question and controlling idea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message stated before it is earned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question-to-resolution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frame the uncertain dramatic question and the value change the ending proves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Story question and controlling idea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question-to-resolution trace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Three-act turning-point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spine and target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allocate setup, confrontation and resolution around irreversible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beat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act turn changes goal, cost or available options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Three-act turning-point model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story spine and target duration</a:t>
            </a:r>
            <a:br/>
            <a:r>
              <a:t>Creative operation: allocate setup, confrontation and resolution around irreversible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beat sheet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each act turn changes goal, cost or available options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Three-act turning-point model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episodic events without escalation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causal beat ratio.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Three-act turning-point model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spine and target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beat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causal beat ratio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Five-beat short-form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single objective and platform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map hook, trigger, escalation, crisis and payoff to timed beats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short-form beat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beat changes audience knowledge or emotion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Five-beat short-form arc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single objective and platform duration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map hook, trigger, escalation, crisis and payoff to timed beats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short-form beat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beat function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each beat changes audience knowledge or emotion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Five-beat short-form arc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montage without progression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beat function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map hook, trigger, escalation, crisis and payoff to timed beats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Five-beat short-form arc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single objective and platform duration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short-form beat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beat function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want, need and misbelief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and character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external objective, internal need and belief under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arc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climax forces a choice between want and need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want, need and misbelief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premise and character 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separate external objective, internal need and belief under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 arc 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decision-to-arc alignment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climax forces a choice between want and need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want, need and misbelief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traits without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decision-to-arc alignment.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want, need and misbelief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and character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arc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decision-to-arc alignment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relationship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two character arc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define power, dependence, conflict, history and change across scenes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relationship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relationship beat must alter trust or leverage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relationship engine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two character arc cards</a:t>
            </a:r>
            <a:br/>
            <a:r>
              <a:t>Creative operation: define power, dependence, conflict, history and change across scenes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relationship matrix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each relationship beat must alter trust or leverage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relationship engine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dialogue that repeats exposition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relationship-state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define power, dependence, conflict, history and change across scenes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Character relationship engine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relationship-state changes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World rule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genre promise and setting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physical, social, economic and cultural rules with consequences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world bible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 rule is usable only when violation has a cost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World rule ledger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genre promise and setting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record physical, social, economic and cultural rules with consequences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world bible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rule-to-consequence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 rule is usable only when violation has a cost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World rule ledger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decorative lore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rule-to-consequence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World rule ledger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genre promise and setting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world bible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rule-to-consequence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 objective-obstacle-turn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beat sheet and character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encode objective, tactic, obstacle, turn and exit value for every scene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scene exits with changed value or information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 objective-obstacle-turn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beat sheet and character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encode objective, tactic, obstacle, turn and exit value for every scene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 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scene-change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 exits with changed value or information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 objective-obstacle-turn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talking scene with no 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scene-change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encode objective, tactic, obstacle, turn and exit value for every scene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 objective-obstacle-turn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beat sheet and character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scene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scene-change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Scenario iteration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premise and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vary one narrative variable per branch and compare consequences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option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select by audience fit, originality and feasibility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Scenario iteration tree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approved premise and constraints</a:t>
            </a:r>
            <a:br/>
            <a:r>
              <a:t>Creative operation: vary one narrative variable per branch and compare consequences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option matrix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select by audience fit, originality and feasibility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Scenario iteration tree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random novelty without brief 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controlled-variable score.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Scenario iteration tree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premise and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option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controlled-variable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creative authorship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AI suggestions and creator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log selection, rejection, recombination and original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creative decision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human must make consequential expressive choices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creative authorship record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AI suggestions and creator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log selection, rejection, recombination and original contribution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creative decision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documented human contribution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must make consequential expressive choices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creative authorship record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unmodified model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documented human contribution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log selection, rejection, recombination and original contribution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Human creative authorship record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documented human contribution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1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Premise, story spine and beat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arcs, relationships and world bible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LO2 · MED-MED-3004-1.1 AI CONTENT GENERATION FOR SCRIPT DEVELOPMENT-3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2: Prompt contracts, storyboard grammar and visual continuity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52</a:t>
            </a:r>
          </a:p>
        </p:txBody>
      </p:sp>
      <p:pic>
        <p:nvPicPr>
          <p:cNvPr id="9" name="Picture 8" descr="story-architecture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LO2: Identify effective prompt terms and narrative components to enhance AI-generated storyboards for visual storytelling.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role and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story bible and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durable constraints, task input, references and output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 contract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untrusted text cannot override creative or safety constraints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role and boundary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approved story bible and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separate durable constraints, task input, references and output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prompt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role-boundary violations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untrusted text cannot override creative or safety constraints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role and boundary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 injection from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role-boundary violations.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role and boundary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story bible and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role-boundary violations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constraint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character, world, tone and audience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rank hard continuity constraints above optional style preferences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constraint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reject output that violates a hard rule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constraint stack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character, world, tone and audience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rank hard continuity constraints above optional style preferences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constraint ledger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hard-rule pass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reject output that violates a hard rule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constraint stack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contradictory character or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hard-rule pass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rank hard continuity constraints above optional style preferences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constraint stack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hard-rule pass rate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scene imitation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original example scenes and target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demonstrate format and pacing without copying protected expression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example 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examples teach structure, not distinctive wording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scene imitation control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original example scenes and target schema</a:t>
            </a:r>
            <a:br/>
            <a:r>
              <a:t>Creative operation: demonstrate format and pacing without copying protected expression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example pack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examples teach structure, not distinctive wording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scene imitation control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near-copy reproduction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phrase-overlap review.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scene imitation control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original example scenes and target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example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phrase-overlap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shot grammar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card and emotional intention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map shot size, angle, movement, duration and transition to story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shot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camera choice must reveal information or emotion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shot grammar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scene card and emotional intention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map shot size, angle, movement, duration and transition to story function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shot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motivated-shot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camera choice must reveal information or emotion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shot grammar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random cinematic adjectives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motivated-shot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map shot size, angle, movement, duration and transition to story function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shot grammar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scene card and emotional intention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shot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motivated-shot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Continuity state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scenes and character bible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track wardrobe, props, geography, time, eyeline and emotional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continuity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next shot inherits all unchanged states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Continuity state ledger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approved scenes and character bible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track wardrobe, props, geography, time, eyeline and emotional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continuity sheet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state mismatch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next shot inherits all unchanged states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Continuity state ledger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visual discontinuity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state mismatch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Continuity state ledger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scenes and character bible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continuity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state mismatch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Image prompt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shot list and continuity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specify subject, action, setting, composition, lens, light, palette and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visual prompt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prompt must encode story function and continuity anchors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Image prompt anatomy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shot list and continuity state</a:t>
            </a:r>
            <a:br/>
            <a:r>
              <a:t>Creative operation: specify subject, action, setting, composition, lens, light, palette and exclusions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visual prompt record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prompt must encode story function and continuity anchors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Image prompt anatomy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beautiful but unusable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prompt field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specify subject, action, setting, composition, lens, light, palette and exclusions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Image prompt anatomy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prompt field completeness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Reference image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owned or licensed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label style, subject, composition and edit-target roles separately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reference manifest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do not imply permission from mere access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Reference image control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owned or licensed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label style, subject, composition and edit-target roles separately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reference manifest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rights-labelled reference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do not imply permission from mere access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Reference image control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unlicensed or ambiguous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rights-labelled reference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Reference image control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owned or licensed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reference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rights-labelled reference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Iterative variation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baseline prompt and generated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change one parameter, preserve invariants and score against rubric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variation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retain a frame only when it improves named criteria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Iterative variation protocol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baseline prompt and generated frames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change one parameter, preserve invariants and score against rubric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variation 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single-variable iteration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retain a frame only when it improves named criteria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Iterative variation protocol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untraceable prompt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single-variable iteration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change one parameter, preserve invariants and score against rubric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Iterative variation protocol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baseline prompt and generated frames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variation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single-variable iteration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evaluation rubric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panels, shot list and story beat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score clarity, continuity, composition, emotion, feasibility and rights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QA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any critical continuity or rights failure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evaluation rubric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panels, shot list and story beat</a:t>
            </a:r>
            <a:br/>
            <a:r>
              <a:t>Creative operation: score clarity, continuity, composition, emotion, feasibility and rights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storyboard QA sheet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block any critical continuity or rights failure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evaluation rubric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subjective approval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rubric agreement.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evaluation rubric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panels, shot list and story beat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QA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rubric agreement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Animatic timing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storyboard and dialogue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combine shot durations, pauses, transitions and audio cues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timed animatic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total duration must fit delivery constraint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Animatic timing model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approved storyboard and dialogue timing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combine shot durations, pauses, transitions and audio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timed animatic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duration variance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total duration must fit delivery constraint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Animatic timing model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pacing collapse in edit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duration 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combine shot durations, pauses, transitions and audio cues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Animatic timing model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duration variance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2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 contract and shot grammar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continuity and animatic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LO3 · MED-MED-3004-1.1 AI CONTENT GENERATION FOR SCRIPT DEVELOPMENT-3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3: Script analysis, revision and multimodal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94</a:t>
            </a:r>
          </a:p>
        </p:txBody>
      </p:sp>
      <p:pic>
        <p:nvPicPr>
          <p:cNvPr id="9" name="Picture 8" descr="story-architecture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LO3: Utilise generative AI tools to refine video scripts for clarity, tone, and narrative 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Script document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script and format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parse slugline, action, character, dialogue, parenthetical and transition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structured 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every line has one production function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Script document schema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draft script and format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parse slugline, action, character, dialogue, parenthetical and transition 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structured 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schema-valid line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every line has one production function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Script document schema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mixed prose and screenplay 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schema-valid line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Script document schema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script and format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structured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schema-valid line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Dialogue subtext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objectives and scene 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compare spoken line with hidden tactic, status and emotional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subtext annotation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retain line only if it advances tactic or reveals conflict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Dialogue subtext test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 objectives and scene conflict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compare spoken line with hidden tactic, status and emotional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subtext annotation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subtext-bearing line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retain line only if it advances tactic or reveals conflict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Dialogue subtext test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on-the-nose explanation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subtext-bearing line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compare spoken line with hidden tactic, status and emotional pressure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Dialogue subtext test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subtext-bearing line rate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Readability and rhythm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 text and audience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measure sentence length, lexical difficulty, repetition and pause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language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revise outliers without flattening voice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Readability and rhythm profile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script text and audience level</a:t>
            </a:r>
            <a:br/>
            <a:r>
              <a:t>Creative operation: measure sentence length, lexical difficulty, repetition and pause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language report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revise outliers without flattening voice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Readability and rhythm profile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mechanical simplification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target-band compliance.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Readability and rhythm profile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 text and audience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language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target-band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Tone vector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brand or genre samples and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score warmth, formality, urgency, humour and intensity with cited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tone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revision must move failed dimensions while preserving plot facts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Tone vector control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brand or genre samples and draft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score warmth, formality, urgency, humour and intensity with cited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tone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dimension delta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revision must move failed dimensions while preserving plot facts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Tone vector control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tone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dimension delta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score warmth, formality, urgency, humour and intensity with cited examples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Tone vector control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brand or genre samples and draft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tone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dimension delta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consistency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character, prop, location and event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link entities and temporal dependencies across scenes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continuity 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flag impossible order or unsupported state change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consistency graph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character, prop, location and event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link entities and temporal dependencies across scenes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continuity 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unresolved contradiction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flag impossible order or unsupported state change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consistency graph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contradiction hidden in long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unresolved contradiction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consistency graph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character, prop, location and event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continuity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unresolved contradiction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Pacing by information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durations and new information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estimate reveal density, emotional beat spacing and recovery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pacing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slow or split overloaded sequences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Pacing by information load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scene durations and new information units</a:t>
            </a:r>
            <a:br/>
            <a:r>
              <a:t>Creative operation: estimate reveal density, emotional beat spacing and recovery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pacing map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slow or split overloaded sequences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Pacing by information load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constant tempo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information units per minute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estimate reveal density, emotional beat spacing and recovery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Pacing by information load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information units per minute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Revision diff and rationale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baseline draft and review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change only failed criteria and explain each consequential 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every edit maps to evidence or creative intent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Revision diff and rationale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baseline draft and review rubric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change only failed criteria and explain each consequential 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revision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defect closure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every edit maps to evidence or creative intent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Revision diff and rationale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endless cosmetic rewrite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defect closure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Revision diff and rationale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baseline draft and review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defect closure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Voiceover and dialogue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visual action and information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assign only non-visible information to narration and preserve scene sound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audio 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remove narration that merely describes the picture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Voiceover and dialogue split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visual action and information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assign only non-visible information to narration and preserve scene sound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audio script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audio-visual complementarity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remove narration that merely describes the picture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Voiceover and dialogue split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redundant voiceover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audio-visual complementarity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assign only non-visible information to narration and preserve scene sound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Voiceover and dialogue split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visual action and information needs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audio 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audio-visual complementarity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asset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script, storyboard, audio and captions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bind asset IDs, scene IDs, timing, owner and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production manifest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no orphan asset enters the edit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asset map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script, storyboard, audio and captions</a:t>
            </a:r>
            <a:br/>
            <a:r>
              <a:t>Creative operation: bind asset IDs, scene IDs, timing, owner and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production manifest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no orphan asset enters the edit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asset map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wrong-version media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manifest completeness.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asset map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script, storyboard, audio and captions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production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manifest completeness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Rough-cut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edit timeline and delivery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review narrative clarity, sync, pacing, captions, mix and export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rough-cut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release only when critical defects are zero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Rough-cut acceptance gate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edit timeline and delivery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review narrative clarity, sync, pacing, captions, mix and export 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rough-cut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critical defect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release only when critical defects are zero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Rough-cut acceptance gate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technically exported but narratively unclear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critical defect 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review narrative clarity, sync, pacing, captions, mix and export 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Rough-cut acceptance gate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critical defect count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3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 parsing and diagnostic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Revision, voiceover and rough-cut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LO4 · MED-MED-3004-1.1 AI CONTENT GENERATION FOR SCRIPT DEVELOPMENT-3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4: Bias, authenticity and responsible creative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136</a:t>
            </a:r>
          </a:p>
        </p:txBody>
      </p:sp>
      <p:pic>
        <p:nvPicPr>
          <p:cNvPr id="9" name="Picture 8" descr="rights-review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LO4: Analyse generative AI outputs for ethical issues, bias, and copyright risks, applying appropriate corrective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Bias surface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bible, audience and generated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inspect representation, agency, descriptors, roles, harm and omission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bias review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review impact, not only model intent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Bias surface map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bible, audience and generated draft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inspect representation, agency, descriptors, roles, harm and omission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bias review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flagged pattern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review impact, not only model intent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Bias surface map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stereotype reproduced as realism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flagged pattern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Bias surface map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bible, audience and generated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bias review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flagged pattern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Counterfactual character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and scene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change one protected or social attribute and compare role, agency and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counterfactual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investigate unexplained quality or outcome shifts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Counterfactual character test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 and scene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change one protected or social attribute and compare role, agency and 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counterfactual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outcome asymmetry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investigate unexplained quality or outcome shifts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Counterfactual character test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token diversity without agency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outcome asymmetry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change one protected or social attribute and compare role, agency and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Counterfactual character test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outcome asymmetry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Cultural specificity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setting claims and cultural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researched detail, lived contribution and generic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sensitivity 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escalate high-impact claims to an informed reviewer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Cultural specificity check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setting claims and cultural references</a:t>
            </a:r>
            <a:br/>
            <a:r>
              <a:t>Creative operation: separate researched detail, lived contribution and generic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sensitivity notes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escalate high-impact claims to an informed reviewer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Cultural specificity check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flattened cultural shorthand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verified-detail share.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Cultural specificity check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setting claims and cultural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sensitivity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verified-detail 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Factual claim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 claims and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classify supported, disputed, uncertain, fictional or opinion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claim register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unsupported real-world claims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Factual claim ledger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script claims and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classify supported, disputed, uncertain, fictional or opinion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claim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supported-claim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block unsupported real-world claims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Factual claim ledger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hallucinated 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supported-claim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classify supported, disputed, uncertain, fictional or opinion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Factual claim ledger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script claims and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claim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supported-claim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Authenticity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experience and AI-assisted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whose experience, voice and consent supports the narrative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authenticity statement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do not fabricate testimony or lived experience</a:t>
            </a:r>
          </a:p>
        </p:txBody>
      </p:sp>
    </p:spTree>
  </p:cSld>
  <p:clrMapOvr>
    <a:masterClrMapping/>
  </p:clrMapOvr>
  <p:transition spd="fast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Authenticity boundary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human experience and AI-assisted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record whose experience, voice and consent supports the narrative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authenticity statement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consent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do not fabricate testimony or lived experience</a:t>
            </a:r>
          </a:p>
        </p:txBody>
      </p:sp>
    </p:spTree>
  </p:cSld>
  <p:clrMapOvr>
    <a:masterClrMapping/>
  </p:clrMapOvr>
  <p:transition spd="fast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Authenticity boundary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synthetic personal story presented as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consent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Authenticity boundary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experience and AI-assisted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authenticity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consent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media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generated image, audio or video and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assess audience expectation, materiality and deceptive 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disclosure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disclose when generation could mislead a reasonable viewer</a:t>
            </a:r>
          </a:p>
        </p:txBody>
      </p:sp>
    </p:spTree>
  </p:cSld>
  <p:clrMapOvr>
    <a:masterClrMapping/>
  </p:clrMapOvr>
  <p:transition spd="fast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media disclosure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generated image, audio or video and context</a:t>
            </a:r>
            <a:br/>
            <a:r>
              <a:t>Creative operation: assess audience expectation, materiality and deceptive potential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disclosure decision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disclose when generation could mislead a reasonable viewer</a:t>
            </a:r>
          </a:p>
        </p:txBody>
      </p:sp>
    </p:spTree>
  </p:cSld>
  <p:clrMapOvr>
    <a:masterClrMapping/>
  </p:clrMapOvr>
  <p:transition spd="fast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media disclosure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undisclosed realistic fabrication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decision trace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assess audience expectation, materiality and deceptive potential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media disclosure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decision trace completeness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Privacy-minimised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material and tool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remove identifiers, secrets and unnecessary personal data before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safe prompt 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use only data necessary for the creative task</a:t>
            </a:r>
          </a:p>
        </p:txBody>
      </p:sp>
    </p:spTree>
  </p:cSld>
  <p:clrMapOvr>
    <a:masterClrMapping/>
  </p:clrMapOvr>
  <p:transition spd="fast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Privacy-minimised prompting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source material and tool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remove identifiers, secrets and unnecessary personal data before upload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safe prompt pack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PII leakage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use only data necessary for the creative task</a:t>
            </a:r>
          </a:p>
        </p:txBody>
      </p:sp>
    </p:spTree>
  </p:cSld>
  <p:clrMapOvr>
    <a:masterClrMapping/>
  </p:clrMapOvr>
  <p:transition spd="fast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Privacy-minimised prompting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personal data copied into public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PII leakage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Privacy-minimised prompting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material and tool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safe prompt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PII leakage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Safety and harm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content and audience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screen self-harm, violence, sexual content, defamation and vulnerable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harm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escalate high-severity or uncertain cases</a:t>
            </a:r>
          </a:p>
        </p:txBody>
      </p:sp>
    </p:spTree>
  </p:cSld>
  <p:clrMapOvr>
    <a:masterClrMapping/>
  </p:clrMapOvr>
  <p:transition spd="fast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Safety and harm review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story content and audience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screen self-harm, violence, sexual content, defamation and vulnerable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harm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severity-weighted findings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escalate high-severity or uncertain cases</a:t>
            </a:r>
          </a:p>
        </p:txBody>
      </p:sp>
    </p:spTree>
  </p:cSld>
  <p:clrMapOvr>
    <a:masterClrMapping/>
  </p:clrMapOvr>
  <p:transition spd="fast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Safety and harm review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creative framing masks harm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severity-weighted findings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screen self-harm, violence, sexual content, defamation and vulnerable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Safety and harm review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content and audience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harm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severity-weighted findings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red-team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near-final assets and failure hypotheses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assign reviewers to challenge evidence, bias, continuity and deception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red-team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every high-risk issue has owner and disposition</a:t>
            </a:r>
          </a:p>
        </p:txBody>
      </p:sp>
    </p:spTree>
  </p:cSld>
  <p:clrMapOvr>
    <a:masterClrMapping/>
  </p:clrMapOvr>
  <p:transition spd="fast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red-team session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near-final assets and failure hypotheses</a:t>
            </a:r>
            <a:br/>
            <a:r>
              <a:t>Creative operation: assign reviewers to challenge evidence, bias, continuity and deception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red-team log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every high-risk issue has owner and disposition</a:t>
            </a:r>
          </a:p>
        </p:txBody>
      </p:sp>
    </p:spTree>
  </p:cSld>
  <p:clrMapOvr>
    <a:masterClrMapping/>
  </p:clrMapOvr>
  <p:transition spd="fast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red-team session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group confirmation bias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closed finding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red-team session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near-final assets and failure hypotheses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red-team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closed finding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Responsible release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QA packet and named approver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approve, revise or block with conditions and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release authorization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AI cannot self-approve external publication</a:t>
            </a:r>
          </a:p>
        </p:txBody>
      </p:sp>
    </p:spTree>
  </p:cSld>
  <p:clrMapOvr>
    <a:masterClrMapping/>
  </p:clrMapOvr>
  <p:transition spd="fast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Responsible release decision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QA packet and named approver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record approve, revise or block with conditions and exceptions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release authorization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approval audit completeness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AI cannot self-approve external publication</a:t>
            </a:r>
          </a:p>
        </p:txBody>
      </p:sp>
    </p:spTree>
  </p:cSld>
  <p:clrMapOvr>
    <a:masterClrMapping/>
  </p:clrMapOvr>
  <p:transition spd="fast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Responsible release decision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automatic release after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approval audit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record approve, revise or block with conditions and exceptions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Responsible release decision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approval audit completeness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4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Bias, culture and factual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Authenticity, privacy and disclosure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LO5 · MED-MED-3004-1.1 AI CONTENT GENERATION FOR SCRIPT DEVELOPMENT-3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5: Copyright, provenance and release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178</a:t>
            </a:r>
          </a:p>
        </p:txBody>
      </p:sp>
      <p:pic>
        <p:nvPicPr>
          <p:cNvPr id="9" name="Picture 8" descr="rights-review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LO5: Identify copyright risks in generative AI production and apply corrective actions to avoid copyright infringement.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subject-matter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script, image, audio and source manifest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identify protected expression, public-domain material, facts and ideas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 classification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rights attach to expression, not a vague topic</a:t>
            </a:r>
          </a:p>
        </p:txBody>
      </p:sp>
    </p:spTree>
  </p:cSld>
  <p:clrMapOvr>
    <a:masterClrMapping/>
  </p:clrMapOvr>
  <p:transition spd="fast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subject-matter screen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script, image, audio and source manifest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identify protected expression, public-domain material, facts and ideas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rights classification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classified asset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rights attach to expression, not a vague topic</a:t>
            </a:r>
          </a:p>
        </p:txBody>
      </p:sp>
    </p:spTree>
  </p:cSld>
  <p:clrMapOvr>
    <a:masterClrMapping/>
  </p:clrMapOvr>
  <p:transition spd="fast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subject-matter screen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assuming online means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classified asset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subject-matter screen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script, image, audio and source manifest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classified asset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authorship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creative decision log and final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machine proposals from human selection, arrangement and revision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authorship dossier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claim only demonstrable human contribution</a:t>
            </a:r>
          </a:p>
        </p:txBody>
      </p:sp>
    </p:spTree>
  </p:cSld>
  <p:clrMapOvr>
    <a:masterClrMapping/>
  </p:clrMapOvr>
  <p:transition spd="fast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authorship evidence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creative decision log and final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separate machine proposals from human selection, arrangement and revision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authorship dossier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decision evidence density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claim only demonstrable human contribution</a:t>
            </a:r>
          </a:p>
        </p:txBody>
      </p:sp>
    </p:spTree>
  </p:cSld>
  <p:clrMapOvr>
    <a:masterClrMapping/>
  </p:clrMapOvr>
  <p:transition spd="fast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authorship evidence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copyright claim over raw AI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decision evidence density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separate machine proposals from human selection, arrangement and revision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authorship evidence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decision evidence density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Licence compatibility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asset licences and intended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compare permitted use, modification, attribution, territory and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licence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use outside licence scope</a:t>
            </a:r>
          </a:p>
        </p:txBody>
      </p:sp>
    </p:spTree>
  </p:cSld>
  <p:clrMapOvr>
    <a:masterClrMapping/>
  </p:clrMapOvr>
  <p:transition spd="fast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Licence compatibility matrix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asset licences and intended channels</a:t>
            </a:r>
            <a:br/>
            <a:r>
              <a:t>Creative operation: compare permitted use, modification, attribution, territory and duration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licence matrix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block use outside licence scope</a:t>
            </a:r>
          </a:p>
        </p:txBody>
      </p:sp>
    </p:spTree>
  </p:cSld>
  <p:clrMapOvr>
    <a:masterClrMapping/>
  </p:clrMapOvr>
  <p:transition spd="fast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Licence compatibility matrix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incompatible or expired licence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compatible asset share.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Licence compatibility matrix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asset licences and intended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licence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compatible asset 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Similarity and plagiarism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and reference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inspect distinctive phrases, plot sequences, characters and visual composition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similarity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rewrite or replace material with substantial expressive overlap</a:t>
            </a:r>
          </a:p>
        </p:txBody>
      </p:sp>
    </p:spTree>
  </p:cSld>
  <p:clrMapOvr>
    <a:masterClrMapping/>
  </p:clrMapOvr>
  <p:transition spd="fast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Similarity and plagiarism review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draft and reference corpus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inspect distinctive phrases, plot sequences, characters and visual composition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similarity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resolved match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rewrite or replace material with substantial expressive overlap</a:t>
            </a:r>
          </a:p>
        </p:txBody>
      </p:sp>
    </p:spTree>
  </p:cSld>
  <p:clrMapOvr>
    <a:masterClrMapping/>
  </p:clrMapOvr>
  <p:transition spd="fast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Similarity and plagiarism review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surface paraphrase of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resolved match 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inspect distinctive phrases, plot sequences, characters and visual composition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Similarity and plagiarism review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draft and reference corpus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similarity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resolved match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Style imitation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creator request and living-artist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translate named style into generic visual attributes and original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style-safe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avoid prompts seeking close imitation of a living creator</a:t>
            </a:r>
          </a:p>
        </p:txBody>
      </p:sp>
    </p:spTree>
  </p:cSld>
  <p:clrMapOvr>
    <a:masterClrMapping/>
  </p:clrMapOvr>
  <p:transition spd="fast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Style imitation risk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creator request and living-artist 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translate named style into generic visual attributes and original 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style-safe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named-creator prompt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avoid prompts seeking close imitation of a living creator</a:t>
            </a:r>
          </a:p>
        </p:txBody>
      </p:sp>
    </p:spTree>
  </p:cSld>
  <p:clrMapOvr>
    <a:masterClrMapping/>
  </p:clrMapOvr>
  <p:transition spd="fast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Style imitation risk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signature-style mimicry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named-creator prompt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Style imitation risk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creator request and living-artist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style-safe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named-creator prompt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Music and voice rights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audio assets, performers and generation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composition, recording, voice consent and synthetic-use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audio rights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audio layer needs a valid rights basis</a:t>
            </a:r>
          </a:p>
        </p:txBody>
      </p:sp>
    </p:spTree>
  </p:cSld>
  <p:clrMapOvr>
    <a:masterClrMapping/>
  </p:clrMapOvr>
  <p:transition spd="fast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Music and voice rights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audio assets, performers and generation settings</a:t>
            </a:r>
            <a:br/>
            <a:r>
              <a:t>Creative operation: record composition, recording, voice consent and synthetic-use permissions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audio rights ledger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each audio layer needs a valid rights basis</a:t>
            </a:r>
          </a:p>
        </p:txBody>
      </p:sp>
    </p:spTree>
  </p:cSld>
  <p:clrMapOvr>
    <a:masterClrMapping/>
  </p:clrMapOvr>
  <p:transition spd="fast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Music and voice rights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voice clone without consent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cleared audio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record composition, recording, voice consent and synthetic-use permissions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Music and voice rights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cleared audio share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Provenance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 final media assets and generation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store source, tool, prompt hash, editor, version, licence and disclosure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provenance package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no asset without owner and origin enters export</a:t>
            </a:r>
          </a:p>
        </p:txBody>
      </p:sp>
    </p:spTree>
  </p:cSld>
  <p:clrMapOvr>
    <a:masterClrMapping/>
  </p:clrMapOvr>
  <p:transition spd="fast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Provenance manifest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all final media assets and generation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store source, tool, prompt hash, editor, version, licence and disclosure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provenance package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manifest completeness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no asset without owner and origin enters export</a:t>
            </a:r>
          </a:p>
        </p:txBody>
      </p:sp>
    </p:spTree>
  </p:cSld>
  <p:clrMapOvr>
    <a:masterClrMapping/>
  </p:clrMapOvr>
  <p:transition spd="fast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Provenance manifest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lost source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manifest completeness.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Provenance manifest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 final media assets and generation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provenance 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manifest completeness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Correction and takedown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published asset and rights contacts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define complaint intake, evidence hold, decision owner and replacement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remediation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pause distribution on credible high-risk complaint</a:t>
            </a:r>
          </a:p>
        </p:txBody>
      </p:sp>
    </p:spTree>
  </p:cSld>
  <p:clrMapOvr>
    <a:masterClrMapping/>
  </p:clrMapOvr>
  <p:transition spd="fast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Correction and takedown route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published asset and rights contacts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define complaint intake, evidence hold, decision owner and replacement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remediation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pause distribution on credible high-risk complaint</a:t>
            </a:r>
          </a:p>
        </p:txBody>
      </p:sp>
    </p:spTree>
  </p:cSld>
  <p:clrMapOvr>
    <a:masterClrMapping/>
  </p:clrMapOvr>
  <p:transition spd="fast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Correction and takedown route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no accountable response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define complaint intake, evidence hold, decision owner and replacement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Correction and takedown route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published asset and rights contacts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remediation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Platform and client terms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current tool terms and production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compare commercial use, retention, training and indemnity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terms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use only tools approved for the content class</a:t>
            </a:r>
          </a:p>
        </p:txBody>
      </p:sp>
    </p:spTree>
  </p:cSld>
  <p:clrMapOvr>
    <a:masterClrMapping/>
  </p:clrMapOvr>
  <p:transition spd="fast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Platform and client terms check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current tool terms and production brief</a:t>
            </a:r>
            <a:br/>
            <a:r>
              <a:t>Creative operation: compare commercial use, retention, training and indemnity terms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terms review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use only tools approved for the content class</a:t>
            </a:r>
          </a:p>
        </p:txBody>
      </p:sp>
    </p:spTree>
  </p:cSld>
  <p:clrMapOvr>
    <a:masterClrMapping/>
  </p:clrMapOvr>
  <p:transition spd="fast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Platform and client terms check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 assumption based on marketing claim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terms attestation.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Platform and client terms check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current tool terms and production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terms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terms attestation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Final release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script, cut, rights and QA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verify version, captions, disclosures, permissions and destination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release packet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all mandatory gates must pass</a:t>
            </a:r>
          </a:p>
        </p:txBody>
      </p:sp>
    </p:spTree>
  </p:cSld>
  <p:clrMapOvr>
    <a:masterClrMapping/>
  </p:clrMapOvr>
  <p:transition spd="fast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Final release checklist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approved script, cut, rights and QA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verify version, captions, disclosures, permissions and destination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release packet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release-gate pass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all mandatory gates must pass</a:t>
            </a:r>
          </a:p>
        </p:txBody>
      </p:sp>
    </p:spTree>
  </p:cSld>
  <p:clrMapOvr>
    <a:masterClrMapping/>
  </p:clrMapOvr>
  <p:transition spd="fast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Final release checklist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correct file sent to wrong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release-gate pass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verify version, captions, disclosures, permissions and destination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Final release checklist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release-gate pass rate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5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Rights, licences and similarity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Provenance and final release packet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Written and practical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WA · 60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Ten open-ended questions cover K1–K10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PP · 60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Three tasks cover A1–A9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Upload candidate papers through LMS-TMS</a:t>
            </a:r>
          </a:p>
        </p:txBody>
      </p:sp>
    </p:spTree>
  </p:cSld>
  <p:clrMapOvr>
    <a:masterClrMapping/>
  </p:clrMapOvr>
  <p:transition spd="fast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Assessment evidence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Knowledge evidence K1–K10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Practical evidence A1–A9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SIGN-OFF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Assessor reviews and records C / NYC</a:t>
            </a:r>
          </a:p>
        </p:txBody>
      </p:sp>
    </p:spTree>
  </p:cSld>
  <p:clrMapOvr>
    <a:masterClrMapping/>
  </p:clrMapOvr>
  <p:transition spd="fast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TRAQOM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Scan the trainer-provided QR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second session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assessment attendance</a:t>
            </a:r>
          </a:p>
        </p:txBody>
      </p:sp>
    </p:spTree>
  </p:cSld>
  <p:clrMapOvr>
    <a:masterClrMapping/>
  </p:clrMapOvr>
  <p:transition spd="fast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1088136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400" b="1">
                <a:solidFill>
                  <a:srgbClr val="182840"/>
                </a:solidFill>
                <a:latin typeface="Aptos"/>
              </a:defRPr>
            </a:pPr>
            <a:r>
              <a:t>Carry your human creative intent from premise to final frame.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100" b="0">
                <a:solidFill>
                  <a:srgbClr val="008B8B"/>
                </a:solidFill>
                <a:latin typeface="Aptos"/>
              </a:defRPr>
            </a:pPr>
            <a:r>
              <a:t>enquiry@tertiaryinfotech.com  ·  +65 6100 0613</a:t>
            </a:r>
          </a:p>
        </p:txBody>
      </p:sp>
    </p:spTree>
  </p:cSld>
  <p:clrMapOvr>
    <a:masterClrMapping/>
  </p:clrMapOvr>
  <p:transition spd="fast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rPr>
                <a:solidFill/>
              </a:rPr>
              <a:t>Login to LMS and Download Course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TGS-2025056983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003</a:t>
            </a:r>
          </a:p>
        </p:txBody>
      </p:sp>
      <p:pic>
        <p:nvPicPr>
          <p:cNvPr id="9" name="Picture 8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1" y="717804"/>
            <a:ext cx="10301933" cy="512521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09584" y="5925312"/>
            <a:ext cx="10972527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