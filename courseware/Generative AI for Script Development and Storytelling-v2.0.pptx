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question-to-resolution trace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Draft 1</c:v>
                </c:pt>
                <c:pt idx="1">
                  <c:v>After review</c:v>
                </c:pt>
                <c:pt idx="2">
                  <c:v>Release gate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67</c:v>
                </c:pt>
                <c:pt idx="2">
                  <c:v>84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relationship-state changes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Draft 1</c:v>
                </c:pt>
                <c:pt idx="1">
                  <c:v>After review</c:v>
                </c:pt>
                <c:pt idx="2">
                  <c:v>Release gate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71</c:v>
                </c:pt>
                <c:pt idx="2">
                  <c:v>88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documented human contribution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Draft 1</c:v>
                </c:pt>
                <c:pt idx="1">
                  <c:v>After review</c:v>
                </c:pt>
                <c:pt idx="2">
                  <c:v>Release gate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</c:v>
                </c:pt>
                <c:pt idx="1">
                  <c:v>75</c:v>
                </c:pt>
                <c:pt idx="2">
                  <c:v>92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hard-rule pass rate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Draft 1</c:v>
                </c:pt>
                <c:pt idx="1">
                  <c:v>After review</c:v>
                </c:pt>
                <c:pt idx="2">
                  <c:v>Release gate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67</c:v>
                </c:pt>
                <c:pt idx="2">
                  <c:v>84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prompt field completeness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Draft 1</c:v>
                </c:pt>
                <c:pt idx="1">
                  <c:v>After review</c:v>
                </c:pt>
                <c:pt idx="2">
                  <c:v>Release gate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71</c:v>
                </c:pt>
                <c:pt idx="2">
                  <c:v>88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duration variance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Draft 1</c:v>
                </c:pt>
                <c:pt idx="1">
                  <c:v>After review</c:v>
                </c:pt>
                <c:pt idx="2">
                  <c:v>Release gate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</c:v>
                </c:pt>
                <c:pt idx="1">
                  <c:v>75</c:v>
                </c:pt>
                <c:pt idx="2">
                  <c:v>92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subtext-bearing line rate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Draft 1</c:v>
                </c:pt>
                <c:pt idx="1">
                  <c:v>After review</c:v>
                </c:pt>
                <c:pt idx="2">
                  <c:v>Release gate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</c:v>
                </c:pt>
                <c:pt idx="1">
                  <c:v>54</c:v>
                </c:pt>
                <c:pt idx="2">
                  <c:v>22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information units per minute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Draft 1</c:v>
                </c:pt>
                <c:pt idx="1">
                  <c:v>After review</c:v>
                </c:pt>
                <c:pt idx="2">
                  <c:v>Release gate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71</c:v>
                </c:pt>
                <c:pt idx="2">
                  <c:v>88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defect count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Draft 1</c:v>
                </c:pt>
                <c:pt idx="1">
                  <c:v>After review</c:v>
                </c:pt>
                <c:pt idx="2">
                  <c:v>Release gate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46</c:v>
                </c:pt>
                <c:pt idx="2">
                  <c:v>14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outcome asymmetry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Draft 1</c:v>
                </c:pt>
                <c:pt idx="1">
                  <c:v>After review</c:v>
                </c:pt>
                <c:pt idx="2">
                  <c:v>Release gate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67</c:v>
                </c:pt>
                <c:pt idx="2">
                  <c:v>84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decision trace completeness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Draft 1</c:v>
                </c:pt>
                <c:pt idx="1">
                  <c:v>After review</c:v>
                </c:pt>
                <c:pt idx="2">
                  <c:v>Release gate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71</c:v>
                </c:pt>
                <c:pt idx="2">
                  <c:v>88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approval audit completeness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Draft 1</c:v>
                </c:pt>
                <c:pt idx="1">
                  <c:v>After review</c:v>
                </c:pt>
                <c:pt idx="2">
                  <c:v>Release gate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</c:v>
                </c:pt>
                <c:pt idx="1">
                  <c:v>75</c:v>
                </c:pt>
                <c:pt idx="2">
                  <c:v>92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decision evidence density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Draft 1</c:v>
                </c:pt>
                <c:pt idx="1">
                  <c:v>After review</c:v>
                </c:pt>
                <c:pt idx="2">
                  <c:v>Release gate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67</c:v>
                </c:pt>
                <c:pt idx="2">
                  <c:v>84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cleared audio share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Draft 1</c:v>
                </c:pt>
                <c:pt idx="1">
                  <c:v>After review</c:v>
                </c:pt>
                <c:pt idx="2">
                  <c:v>Release gate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71</c:v>
                </c:pt>
                <c:pt idx="2">
                  <c:v>88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release-gate pass rate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Draft 1</c:v>
                </c:pt>
                <c:pt idx="1">
                  <c:v>After review</c:v>
                </c:pt>
                <c:pt idx="2">
                  <c:v>Release gate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</c:v>
                </c:pt>
                <c:pt idx="1">
                  <c:v>75</c:v>
                </c:pt>
                <c:pt idx="2">
                  <c:v>92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s.tertiaryinfotech.com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cript-to-screen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0"/>
            <a:ext cx="725119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2578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75488"/>
            <a:ext cx="658368" cy="658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481328"/>
            <a:ext cx="429768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500" b="1">
                <a:solidFill>
                  <a:srgbClr val="008B8B"/>
                </a:solidFill>
                <a:latin typeface="Aptos"/>
              </a:defRPr>
            </a:pPr>
            <a:r>
              <a:t>WSQ  ·  AI CONTENT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4434840" cy="20116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600" b="1">
                <a:solidFill>
                  <a:srgbClr val="182840"/>
                </a:solidFill>
                <a:latin typeface="Aptos"/>
              </a:defRPr>
            </a:pPr>
            <a:r>
              <a:t>Generative AI for Script Development and Storytelling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87952"/>
            <a:ext cx="42062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2000" b="1">
                <a:solidFill>
                  <a:srgbClr val="1D2A37"/>
                </a:solidFill>
                <a:latin typeface="Aptos"/>
              </a:defRPr>
            </a:pPr>
            <a:r>
              <a:t>TGS-2025056983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18304"/>
            <a:ext cx="4297680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300" b="0">
                <a:solidFill>
                  <a:srgbClr val="536570"/>
                </a:solidFill>
                <a:latin typeface="Aptos"/>
              </a:defRPr>
            </a:pPr>
            <a:r>
              <a:t>Tertiary Infotech Academy Pte Ltd ·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998464"/>
            <a:ext cx="429768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v2.0  ·  19 September 2026</a:t>
            </a:r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TRAQOM · BEFORE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Digital attendance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Scan the trainer-provided QR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Record second session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ASSESSMENT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Record assessment attendance</a:t>
            </a: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LMS-TMS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Download course materials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COURSE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Open your enrolled course in LMS-TMS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LEARNER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Use the Learner Guide folder and slide PDF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LABS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Open the matching numbered lab folder</a:t>
            </a:r>
          </a:p>
        </p:txBody>
      </p:sp>
      <p:sp>
        <p:nvSpPr>
          <p:cNvPr id="23" name="TextBox 22">
            <a:hlinkClick r:id="rId2"/>
          </p:cNvPr>
          <p:cNvSpPr txBox="1"/>
          <p:nvPr/>
        </p:nvSpPr>
        <p:spPr>
          <a:xfrm>
            <a:off x="804672" y="5230368"/>
            <a:ext cx="10607040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800" b="1">
                <a:solidFill>
                  <a:srgbClr val="008B8B"/>
                </a:solidFill>
                <a:latin typeface="Aptos"/>
              </a:defRPr>
            </a:pPr>
            <a:r>
              <a:t>https://lms-tms.tertiaryinfotech.com/</a:t>
            </a:r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PROFILE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Your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901952"/>
            <a:ext cx="4709160" cy="3977639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901952"/>
            <a:ext cx="91440" cy="3977639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66544"/>
            <a:ext cx="425196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TRAINER 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251960" cy="326440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[Trainer name]</a:t>
            </a:r>
            <a:br/>
            <a:r>
              <a:t>Script development, storytelling and generative media facilitator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2120" y="1901952"/>
            <a:ext cx="5961888" cy="3977639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32120" y="1901952"/>
            <a:ext cx="91440" cy="3977639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2066544"/>
            <a:ext cx="550468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CLASS CONTACT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514600"/>
            <a:ext cx="5504688" cy="326440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[Trainer email]</a:t>
            </a:r>
            <a:br/>
            <a:r>
              <a:t>Ask for review of the story, continuity and rights packet before treating an asset as approved.</a:t>
            </a: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Dr Alfred 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901952"/>
            <a:ext cx="4709160" cy="3977639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901952"/>
            <a:ext cx="91440" cy="3977639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66544"/>
            <a:ext cx="425196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COURSE LEAD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251960" cy="326440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Dr Alfred Ang</a:t>
            </a:r>
            <a:br/>
            <a:r>
              <a:t>Tertiary Infotech Academy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2120" y="1901952"/>
            <a:ext cx="5961888" cy="3977639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32120" y="1901952"/>
            <a:ext cx="91440" cy="3977639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2066544"/>
            <a:ext cx="550468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LEARNING FOCUS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514600"/>
            <a:ext cx="5504688" cy="326440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Human creative direction, narrative craft, multimodal continuity and responsible AI production.</a:t>
            </a: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COURSE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Learning outcomes and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" y="1572768"/>
            <a:ext cx="5358384" cy="139903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" y="1572768"/>
            <a:ext cx="91440" cy="139903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737360"/>
            <a:ext cx="490118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LO1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85416"/>
            <a:ext cx="4901184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0">
                <a:solidFill>
                  <a:srgbClr val="1D2A37"/>
                </a:solidFill>
                <a:latin typeface="Aptos"/>
              </a:defRPr>
            </a:pPr>
            <a:r>
              <a:t>LO1: Use generative AI techniques to develop compelling script elements enriched with narrative structure and creative storytelling.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1572768"/>
            <a:ext cx="5358384" cy="139903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17336" y="1572768"/>
            <a:ext cx="91440" cy="1399032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1737360"/>
            <a:ext cx="490118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LO2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185416"/>
            <a:ext cx="4901184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0">
                <a:solidFill>
                  <a:srgbClr val="1D2A37"/>
                </a:solidFill>
                <a:latin typeface="Aptos"/>
              </a:defRPr>
            </a:pPr>
            <a:r>
              <a:t>LO2: Identify effective prompt terms and narrative components to enhance AI-generated storyboards for visual storytelling.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" y="3145536"/>
            <a:ext cx="5358384" cy="139903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4632" y="3145536"/>
            <a:ext cx="91440" cy="139903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310128"/>
            <a:ext cx="490118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LO3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758184"/>
            <a:ext cx="4901184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0">
                <a:solidFill>
                  <a:srgbClr val="1D2A37"/>
                </a:solidFill>
                <a:latin typeface="Aptos"/>
              </a:defRPr>
            </a:pPr>
            <a:r>
              <a:t>LO3: Utilise generative AI tools to refine video scripts for clarity, tone, and narrative consistency.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17336" y="3145536"/>
            <a:ext cx="5358384" cy="139903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17336" y="3145536"/>
            <a:ext cx="91440" cy="1399032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5936" y="3310128"/>
            <a:ext cx="490118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LO4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3758184"/>
            <a:ext cx="4901184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0">
                <a:solidFill>
                  <a:srgbClr val="1D2A37"/>
                </a:solidFill>
                <a:latin typeface="Aptos"/>
              </a:defRPr>
            </a:pPr>
            <a:r>
              <a:t>LO4: Analyse generative AI outputs for ethical issues, bias, and copyright risks, applying appropriate corrective actions.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4632" y="4718304"/>
            <a:ext cx="5358384" cy="139903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4632" y="4718304"/>
            <a:ext cx="91440" cy="1399032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882896"/>
            <a:ext cx="4901184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LO5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5330952"/>
            <a:ext cx="4901184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0">
                <a:solidFill>
                  <a:srgbClr val="1D2A37"/>
                </a:solidFill>
                <a:latin typeface="Aptos"/>
              </a:defRPr>
            </a:pPr>
            <a:r>
              <a:t>LO5: Identify copyright risks in generative AI production and apply corrective actions to avoid copyright infringement.</a:t>
            </a:r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SCRIPT-TO-SCREEN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Human-directed generative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DIRECT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Human creator defines story intent and constraints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GENERATE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AI proposes structured text, image and audio assets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Human reviews continuity, ethics, rights and release evidence</a:t>
            </a: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ASSESSMENT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Practice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OPEN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Visit exams.tertiaryinfotech.com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PRACTISE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Use the matching course practice assessment when available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answers against slides, Learner Guide and lab evidence</a:t>
            </a:r>
          </a:p>
        </p:txBody>
      </p:sp>
      <p:sp>
        <p:nvSpPr>
          <p:cNvPr id="23" name="TextBox 22">
            <a:hlinkClick r:id="rId2"/>
          </p:cNvPr>
          <p:cNvSpPr txBox="1"/>
          <p:nvPr/>
        </p:nvSpPr>
        <p:spPr>
          <a:xfrm>
            <a:off x="804672" y="5230368"/>
            <a:ext cx="10607040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800" b="1">
                <a:solidFill>
                  <a:srgbClr val="008B8B"/>
                </a:solidFill>
                <a:latin typeface="Aptos"/>
              </a:defRPr>
            </a:pPr>
            <a:r>
              <a:t>https://exams.tertiaryinfotech.com/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LO1 · MED-MED-3004-1.1 AI CONTENT GENERATION FOR SCRIPT DEVELOPMENT-3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12648"/>
            <a:ext cx="11109960" cy="10241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2600" b="1">
                <a:solidFill>
                  <a:srgbClr val="182840"/>
                </a:solidFill>
                <a:latin typeface="Aptos"/>
              </a:defRPr>
            </a:pPr>
            <a:r>
              <a:rPr sz="2300"/>
              <a:t>Topic 1: Story architecture, world-building and character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66420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009</a:t>
            </a:r>
          </a:p>
        </p:txBody>
      </p:sp>
      <p:pic>
        <p:nvPicPr>
          <p:cNvPr id="9" name="Picture 8" descr="story-architecture-de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56231"/>
            <a:ext cx="6675120" cy="424281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98079" y="1856231"/>
            <a:ext cx="4187952" cy="4242816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304288"/>
            <a:ext cx="3547872" cy="2651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1">
                <a:solidFill>
                  <a:srgbClr val="182840"/>
                </a:solidFill>
                <a:latin typeface="Aptos"/>
              </a:defRPr>
            </a:pPr>
            <a:r>
              <a:t>LO1: Use generative AI techniques to develop compelling script elements enriched with narrative structure and creative storytelling.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404104"/>
            <a:ext cx="35661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500" b="1">
                <a:solidFill>
                  <a:srgbClr val="008B8B"/>
                </a:solidFill>
                <a:latin typeface="Aptos"/>
              </a:defRPr>
            </a:pPr>
            <a:r>
              <a:t>10 mechanisms · 2 labs</a:t>
            </a:r>
          </a:p>
        </p:txBody>
      </p:sp>
    </p:spTree>
  </p:cSld>
  <p:clrMapOvr>
    <a:masterClrMapping/>
  </p:clrMapOvr>
  <p:transition spd="fast">
    <p:push dir="r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Premise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creative brief and audience need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compress protagonist, goal, obstacle, stakes and change into one causal sentence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premise record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every clause must affect the central conflict</a:t>
            </a:r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Premise contract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011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creative brief and audience need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compress protagonist, goal, obstacle, stakes and change into one causal sentence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premise record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premise field coverage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every clause must affect the central conflict</a:t>
            </a:r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Premise contract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theme without dramatic 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premise field coverage.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Premise contract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creative brief and audience need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premise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premise field coverage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Story question and controlling idea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premise and intended audience effect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frame the uncertain dramatic question and the value change the ending proves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story spine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ending must answer the opening question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Story question and controlling idea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SCENE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HL-S01 · version 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STORY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premise and intended audience effect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CREATIVE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frame the uncertain dramatic question and the value change the ending proves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ARTIFACT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story spine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HUMAN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question-to-resolution trace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ACCEPT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ending must answer the opening question</a:t>
            </a:r>
          </a:p>
        </p:txBody>
      </p:sp>
    </p:spTree>
  </p:cSld>
  <p:clrMapOvr>
    <a:masterClrMapping/>
  </p:clrMapOvr>
  <p:transition spd="fast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Story question and controlling idea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message stated before it is earned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question-to-resolution trace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frame the uncertain dramatic question and the value change the ending proves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2600" b="1">
                <a:solidFill>
                  <a:srgbClr val="182840"/>
                </a:solidFill>
                <a:latin typeface="Aptos"/>
              </a:defRPr>
            </a:pPr>
            <a:r>
              <a:t>Story question and controlling idea · illustrative decision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017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755648"/>
          <a:ext cx="6583680" cy="4279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883664"/>
            <a:ext cx="4041648" cy="3986784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1883664"/>
            <a:ext cx="91440" cy="398678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048256"/>
            <a:ext cx="358444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CLASSROOM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496312"/>
            <a:ext cx="3584448" cy="32735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Illustrative scores only.</a:t>
            </a:r>
            <a:br/>
            <a:r>
              <a:t>Metric: question-to-resolution trace</a:t>
            </a:r>
            <a:br/>
            <a:r>
              <a:t>Compare against a pre-agreed release threshold; inspect evidence before approval.</a:t>
            </a:r>
          </a:p>
        </p:txBody>
      </p:sp>
    </p:spTree>
  </p:cSld>
  <p:clrMapOvr>
    <a:masterClrMapping/>
  </p:clrMapOvr>
  <p:transition spd="fast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Three-act turning-point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story spine and target duration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allocate setup, confrontation and resolution around irreversible decisions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beat sheet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each act turn changes goal, cost or available options</a:t>
            </a:r>
          </a:p>
        </p:txBody>
      </p:sp>
    </p:spTree>
  </p:cSld>
  <p:clrMapOvr>
    <a:masterClrMapping/>
  </p:clrMapOvr>
  <p:transition spd="fast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Three-act turning-point model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46504"/>
            <a:ext cx="519379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46504"/>
            <a:ext cx="91440" cy="42976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11095"/>
            <a:ext cx="473659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HARBOUR LIGHTS · STORY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59152"/>
            <a:ext cx="473659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Format: 90-second human-interest short</a:t>
            </a:r>
            <a:br/>
            <a:r>
              <a:t>Audience: Singapore adult learners</a:t>
            </a:r>
            <a:br/>
            <a:r>
              <a:t>Input: story spine and target duration</a:t>
            </a:r>
            <a:br/>
            <a:r>
              <a:t>Creative operation: allocate setup, confrontation and resolution around irreversible decisions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0176" y="1746504"/>
            <a:ext cx="569671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0176" y="1746504"/>
            <a:ext cx="91440" cy="42976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911095"/>
            <a:ext cx="523951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STRUCTURED ARTIFACT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359152"/>
            <a:ext cx="523951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artifact_type: beat sheet</a:t>
            </a:r>
            <a:br/>
            <a:r>
              <a:t>story_id: HL-01</a:t>
            </a:r>
            <a:br/>
            <a:r>
              <a:t>review_owner: human creator</a:t>
            </a:r>
            <a:br/>
            <a:r>
              <a:t>accept_if: each act turn changes goal, cost or available options</a:t>
            </a:r>
          </a:p>
        </p:txBody>
      </p:sp>
    </p:spTree>
  </p:cSld>
  <p:clrMapOvr>
    <a:masterClrMapping/>
  </p:clrMapOvr>
  <p:transition spd="fast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Three-act turning-point model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episodic events without escalation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causal beat ratio.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Three-act turning-point model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story spine and target duration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beat sheet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causal beat ratio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Five-beat short-form arc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single objective and platform duration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map hook, trigger, escalation, crisis and payoff to timed beats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short-form beat map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each beat changes audience knowledge or emotion</a:t>
            </a:r>
          </a:p>
        </p:txBody>
      </p:sp>
    </p:spTree>
  </p:cSld>
  <p:clrMapOvr>
    <a:masterClrMapping/>
  </p:clrMapOvr>
  <p:transition spd="fast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Five-beat short-form arc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023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single objective and platform duration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map hook, trigger, escalation, crisis and payoff to timed beats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short-form beat map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beat function coverage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each beat changes audience knowledge or emotion</a:t>
            </a:r>
          </a:p>
        </p:txBody>
      </p:sp>
    </p:spTree>
  </p:cSld>
  <p:clrMapOvr>
    <a:masterClrMapping/>
  </p:clrMapOvr>
  <p:transition spd="fast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Five-beat short-form arc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montage without progression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beat function coverage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map hook, trigger, escalation, crisis and payoff to timed beats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Five-beat short-form arc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story and scene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single objective and platform duration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short-form beat map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beat function coverage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human approval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Character want, need and misbelief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premise and character seed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separate external objective, internal need and belief under pressure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character arc card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climax forces a choice between want and need</a:t>
            </a:r>
          </a:p>
        </p:txBody>
      </p:sp>
    </p:spTree>
  </p:cSld>
  <p:clrMapOvr>
    <a:masterClrMapping/>
  </p:clrMapOvr>
  <p:transition spd="fast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Character want, need and misbelief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SCENE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HL-S01 · version 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STORY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premise and character seed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CREATIVE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separate external objective, internal need and belief under pressure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ARTIFACT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character arc card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HUMAN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decision-to-arc alignment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ACCEPT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climax forces a choice between want and need</a:t>
            </a:r>
          </a:p>
        </p:txBody>
      </p:sp>
    </p:spTree>
  </p:cSld>
  <p:clrMapOvr>
    <a:masterClrMapping/>
  </p:clrMapOvr>
  <p:transition spd="fast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Character want, need and misbelief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traits without decisions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decision-to-arc alignment.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Character want, need and misbelief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premise and character seed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character arc card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decision-to-arc alignment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Character relationship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two character arc cards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define power, dependence, conflict, history and change across scenes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relationship matrix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each relationship beat must alter trust or leverage</a:t>
            </a:r>
          </a:p>
        </p:txBody>
      </p:sp>
    </p:spTree>
  </p:cSld>
  <p:clrMapOvr>
    <a:masterClrMapping/>
  </p:clrMapOvr>
  <p:transition spd="fast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Character relationship engine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46504"/>
            <a:ext cx="519379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46504"/>
            <a:ext cx="91440" cy="42976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11095"/>
            <a:ext cx="473659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HARBOUR LIGHTS · STORY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59152"/>
            <a:ext cx="473659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Format: 90-second human-interest short</a:t>
            </a:r>
            <a:br/>
            <a:r>
              <a:t>Audience: Singapore adult learners</a:t>
            </a:r>
            <a:br/>
            <a:r>
              <a:t>Input: two character arc cards</a:t>
            </a:r>
            <a:br/>
            <a:r>
              <a:t>Creative operation: define power, dependence, conflict, history and change across scenes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0176" y="1746504"/>
            <a:ext cx="569671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0176" y="1746504"/>
            <a:ext cx="91440" cy="42976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911095"/>
            <a:ext cx="523951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STRUCTURED ARTIFACT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359152"/>
            <a:ext cx="523951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artifact_type: relationship matrix</a:t>
            </a:r>
            <a:br/>
            <a:r>
              <a:t>story_id: HL-01</a:t>
            </a:r>
            <a:br/>
            <a:r>
              <a:t>review_owner: human creator</a:t>
            </a:r>
            <a:br/>
            <a:r>
              <a:t>accept_if: each relationship beat must alter trust or leverage</a:t>
            </a:r>
          </a:p>
        </p:txBody>
      </p:sp>
    </p:spTree>
  </p:cSld>
  <p:clrMapOvr>
    <a:masterClrMapping/>
  </p:clrMapOvr>
  <p:transition spd="fast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Character relationship engine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dialogue that repeats exposition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relationship-state changes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define power, dependence, conflict, history and change across scenes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2600" b="1">
                <a:solidFill>
                  <a:srgbClr val="182840"/>
                </a:solidFill>
                <a:latin typeface="Aptos"/>
              </a:defRPr>
            </a:pPr>
            <a:r>
              <a:t>Character relationship engine · illustrative decision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033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755648"/>
          <a:ext cx="6583680" cy="4279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883664"/>
            <a:ext cx="4041648" cy="3986784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1883664"/>
            <a:ext cx="91440" cy="398678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048256"/>
            <a:ext cx="358444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CLASSROOM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496312"/>
            <a:ext cx="3584448" cy="32735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Illustrative scores only.</a:t>
            </a:r>
            <a:br/>
            <a:r>
              <a:t>Metric: relationship-state changes</a:t>
            </a:r>
            <a:br/>
            <a:r>
              <a:t>Compare against a pre-agreed release threshold; inspect evidence before approval.</a:t>
            </a:r>
          </a:p>
        </p:txBody>
      </p:sp>
    </p:spTree>
  </p:cSld>
  <p:clrMapOvr>
    <a:masterClrMapping/>
  </p:clrMapOvr>
  <p:transition spd="fast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World rule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genre promise and setting constraints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record physical, social, economic and cultural rules with consequences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world bible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a rule is usable only when violation has a cost</a:t>
            </a:r>
          </a:p>
        </p:txBody>
      </p:sp>
    </p:spTree>
  </p:cSld>
  <p:clrMapOvr>
    <a:masterClrMapping/>
  </p:clrMapOvr>
  <p:transition spd="fast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World rule ledger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035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genre promise and setting constraints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record physical, social, economic and cultural rules with consequences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world bible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rule-to-consequence coverage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a rule is usable only when violation has a cost</a:t>
            </a:r>
          </a:p>
        </p:txBody>
      </p:sp>
    </p:spTree>
  </p:cSld>
  <p:clrMapOvr>
    <a:masterClrMapping/>
  </p:clrMapOvr>
  <p:transition spd="fast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World rule ledger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decorative lore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rule-to-consequence coverage.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World rule ledger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genre promise and setting constraints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world bible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rule-to-consequence coverage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Scene objective-obstacle-turn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beat sheet and character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encode objective, tactic, obstacle, turn and exit value for every scene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scene card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scene exits with changed value or information</a:t>
            </a:r>
          </a:p>
        </p:txBody>
      </p:sp>
    </p:spTree>
  </p:cSld>
  <p:clrMapOvr>
    <a:masterClrMapping/>
  </p:clrMapOvr>
  <p:transition spd="fast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Scene objective-obstacle-turn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039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SCENE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HL-S01 · version 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STORY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beat sheet and character 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CREATIVE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encode objective, tactic, obstacle, turn and exit value for every scene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ARTIFACT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 card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HUMAN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scene-change rate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ACCEPT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 exits with changed value or information</a:t>
            </a:r>
          </a:p>
        </p:txBody>
      </p:sp>
    </p:spTree>
  </p:cSld>
  <p:clrMapOvr>
    <a:masterClrMapping/>
  </p:clrMapOvr>
  <p:transition spd="fast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Scene objective-obstacle-turn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talking scene with no turn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scene-change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encode objective, tactic, obstacle, turn and exit value for every scene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Scene objective-obstacle-turn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041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story and scene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beat sheet and character state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scene card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scene-change rate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human approval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Scenario iteration tree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042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approved premise and constraints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vary one narrative variable per branch and compare consequences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option matrix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select by audience fit, originality and feasibility</a:t>
            </a:r>
          </a:p>
        </p:txBody>
      </p:sp>
    </p:spTree>
  </p:cSld>
  <p:clrMapOvr>
    <a:masterClrMapping/>
  </p:clrMapOvr>
  <p:transition spd="fast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Scenario iteration tree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46504"/>
            <a:ext cx="519379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46504"/>
            <a:ext cx="91440" cy="42976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11095"/>
            <a:ext cx="473659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HARBOUR LIGHTS · STORY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59152"/>
            <a:ext cx="473659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Format: 90-second human-interest short</a:t>
            </a:r>
            <a:br/>
            <a:r>
              <a:t>Audience: Singapore adult learners</a:t>
            </a:r>
            <a:br/>
            <a:r>
              <a:t>Input: approved premise and constraints</a:t>
            </a:r>
            <a:br/>
            <a:r>
              <a:t>Creative operation: vary one narrative variable per branch and compare consequences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0176" y="1746504"/>
            <a:ext cx="569671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0176" y="1746504"/>
            <a:ext cx="91440" cy="42976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911095"/>
            <a:ext cx="523951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STRUCTURED ARTIFACT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359152"/>
            <a:ext cx="523951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artifact_type: option matrix</a:t>
            </a:r>
            <a:br/>
            <a:r>
              <a:t>story_id: HL-01</a:t>
            </a:r>
            <a:br/>
            <a:r>
              <a:t>review_owner: human creator</a:t>
            </a:r>
            <a:br/>
            <a:r>
              <a:t>accept_if: select by audience fit, originality and feasibility</a:t>
            </a:r>
          </a:p>
        </p:txBody>
      </p:sp>
    </p:spTree>
  </p:cSld>
  <p:clrMapOvr>
    <a:masterClrMapping/>
  </p:clrMapOvr>
  <p:transition spd="fast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Scenario iteration tree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044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random novelty without brief fit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controlled-variable score.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Scenario iteration tree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approved premise and constraints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option matrix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controlled-variable score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Human creative authorship 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046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AI suggestions and creator decisions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log selection, rejection, recombination and original contribution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creative decision log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human must make consequential expressive choices</a:t>
            </a:r>
          </a:p>
        </p:txBody>
      </p:sp>
    </p:spTree>
  </p:cSld>
  <p:clrMapOvr>
    <a:masterClrMapping/>
  </p:clrMapOvr>
  <p:transition spd="fast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Human creative authorship record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047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AI suggestions and creator decisions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log selection, rejection, recombination and original contribution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creative decision log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documented human contribution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human must make consequential expressive choices</a:t>
            </a:r>
          </a:p>
        </p:txBody>
      </p:sp>
    </p:spTree>
  </p:cSld>
  <p:clrMapOvr>
    <a:masterClrMapping/>
  </p:clrMapOvr>
  <p:transition spd="fast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Human creative authorship record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unmodified model 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documented human contribution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log selection, rejection, recombination and original contribution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1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2600" b="1">
                <a:solidFill>
                  <a:srgbClr val="182840"/>
                </a:solidFill>
                <a:latin typeface="Aptos"/>
              </a:defRPr>
            </a:pPr>
            <a:r>
              <a:t>Human creative authorship record · illustrative decision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049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755648"/>
          <a:ext cx="6583680" cy="4279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883664"/>
            <a:ext cx="4041648" cy="3986784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1883664"/>
            <a:ext cx="91440" cy="398678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048256"/>
            <a:ext cx="358444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CLASSROOM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496312"/>
            <a:ext cx="3584448" cy="32735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Illustrative scores only.</a:t>
            </a:r>
            <a:br/>
            <a:r>
              <a:t>Metric: documented human contribution</a:t>
            </a:r>
            <a:br/>
            <a:r>
              <a:t>Compare against a pre-agreed release threshold; inspect evidence before approval.</a:t>
            </a:r>
          </a:p>
        </p:txBody>
      </p:sp>
    </p:spTree>
  </p:cSld>
  <p:clrMapOvr>
    <a:masterClrMapping/>
  </p:clrMapOvr>
  <p:transition spd="fast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PRACTICE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Topic 1 · lab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LAB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Premise, story spine and beat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LAB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Character arcs, relationships and world bible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</p:spTree>
  </p:cSld>
  <p:clrMapOvr>
    <a:masterClrMapping/>
  </p:clrMapOvr>
  <p:transition spd="fast">
    <p:push dir="r"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LO2 · MED-MED-3004-1.1 AI CONTENT GENERATION FOR SCRIPT DEVELOPMENT-3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12648"/>
            <a:ext cx="11109960" cy="10241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2600" b="1">
                <a:solidFill>
                  <a:srgbClr val="182840"/>
                </a:solidFill>
                <a:latin typeface="Aptos"/>
              </a:defRPr>
            </a:pPr>
            <a:r>
              <a:rPr sz="2300"/>
              <a:t>Topic 2: Prompt contracts, storyboard grammar and visual continuity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66420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051</a:t>
            </a:r>
          </a:p>
        </p:txBody>
      </p:sp>
      <p:pic>
        <p:nvPicPr>
          <p:cNvPr id="9" name="Picture 8" descr="story-architecture-de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56231"/>
            <a:ext cx="6675120" cy="424281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98079" y="1856231"/>
            <a:ext cx="4187952" cy="4242816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304288"/>
            <a:ext cx="3547872" cy="2651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1">
                <a:solidFill>
                  <a:srgbClr val="182840"/>
                </a:solidFill>
                <a:latin typeface="Aptos"/>
              </a:defRPr>
            </a:pPr>
            <a:r>
              <a:t>LO2: Identify effective prompt terms and narrative components to enhance AI-generated storyboards for visual storytelling.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404104"/>
            <a:ext cx="35661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500" b="1">
                <a:solidFill>
                  <a:srgbClr val="008B8B"/>
                </a:solidFill>
                <a:latin typeface="Aptos"/>
              </a:defRPr>
            </a:pPr>
            <a:r>
              <a:t>10 mechanisms · 2 labs</a:t>
            </a:r>
          </a:p>
        </p:txBody>
      </p:sp>
    </p:spTree>
  </p:cSld>
  <p:clrMapOvr>
    <a:masterClrMapping/>
  </p:clrMapOvr>
  <p:transition spd="fast">
    <p:push dir="r"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Prompt role and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approved story bible and 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separate durable constraints, task input, references and output 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prompt contract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untrusted text cannot override creative or safety constraints</a:t>
            </a:r>
          </a:p>
        </p:txBody>
      </p:sp>
    </p:spTree>
  </p:cSld>
  <p:clrMapOvr>
    <a:masterClrMapping/>
  </p:clrMapOvr>
  <p:transition spd="fast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Prompt role and boundary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053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approved story bible and task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separate durable constraints, task input, references and output schema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prompt contract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role-boundary violations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untrusted text cannot override creative or safety constraints</a:t>
            </a:r>
          </a:p>
        </p:txBody>
      </p:sp>
    </p:spTree>
  </p:cSld>
  <p:clrMapOvr>
    <a:masterClrMapping/>
  </p:clrMapOvr>
  <p:transition spd="fast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Prompt role and boundary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054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prompt injection from references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role-boundary violations.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Prompt role and boundary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055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approved story bible and 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prompt 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role-boundary violations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Narrative constraint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character, world, tone and audience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rank hard continuity constraints above optional style preferences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constraint ledger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reject output that violates a hard rule</a:t>
            </a:r>
          </a:p>
        </p:txBody>
      </p:sp>
    </p:spTree>
  </p:cSld>
  <p:clrMapOvr>
    <a:masterClrMapping/>
  </p:clrMapOvr>
  <p:transition spd="fast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Narrative constraint stack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SCENE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HL-S01 · version 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STORY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character, world, tone and audience rules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CREATIVE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rank hard continuity constraints above optional style preferences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ARTIFACT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constraint ledger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HUMAN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hard-rule pass rate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ACCEPT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reject output that violates a hard rule</a:t>
            </a:r>
          </a:p>
        </p:txBody>
      </p:sp>
    </p:spTree>
  </p:cSld>
  <p:clrMapOvr>
    <a:masterClrMapping/>
  </p:clrMapOvr>
  <p:transition spd="fast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Narrative constraint stack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058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contradictory character or setting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hard-rule pass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rank hard continuity constraints above optional style preferences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Narrative constraint stack · illustrative decision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059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755648"/>
          <a:ext cx="6583680" cy="4279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883664"/>
            <a:ext cx="4041648" cy="3986784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1883664"/>
            <a:ext cx="91440" cy="398678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048256"/>
            <a:ext cx="358444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CLASSROOM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496312"/>
            <a:ext cx="3584448" cy="32735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Illustrative scores only.</a:t>
            </a:r>
            <a:br/>
            <a:r>
              <a:t>Metric: hard-rule pass rate</a:t>
            </a:r>
            <a:br/>
            <a:r>
              <a:t>Compare against a pre-agreed release threshold; inspect evidence before approval.</a:t>
            </a:r>
          </a:p>
        </p:txBody>
      </p:sp>
    </p:spTree>
  </p:cSld>
  <p:clrMapOvr>
    <a:masterClrMapping/>
  </p:clrMapOvr>
  <p:transition spd="fast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Few-shot scene imitation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060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original example scenes and target schema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demonstrate format and pacing without copying protected expression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example pack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examples teach structure, not distinctive wording</a:t>
            </a:r>
          </a:p>
        </p:txBody>
      </p:sp>
    </p:spTree>
  </p:cSld>
  <p:clrMapOvr>
    <a:masterClrMapping/>
  </p:clrMapOvr>
  <p:transition spd="fast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Few-shot scene imitation control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061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46504"/>
            <a:ext cx="519379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46504"/>
            <a:ext cx="91440" cy="42976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11095"/>
            <a:ext cx="473659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HARBOUR LIGHTS · STORY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59152"/>
            <a:ext cx="473659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Format: 90-second human-interest short</a:t>
            </a:r>
            <a:br/>
            <a:r>
              <a:t>Audience: Singapore adult learners</a:t>
            </a:r>
            <a:br/>
            <a:r>
              <a:t>Input: original example scenes and target schema</a:t>
            </a:r>
            <a:br/>
            <a:r>
              <a:t>Creative operation: demonstrate format and pacing without copying protected expression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0176" y="1746504"/>
            <a:ext cx="569671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0176" y="1746504"/>
            <a:ext cx="91440" cy="42976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911095"/>
            <a:ext cx="523951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STRUCTURED ARTIFACT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359152"/>
            <a:ext cx="523951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artifact_type: example pack</a:t>
            </a:r>
            <a:br/>
            <a:r>
              <a:t>story_id: HL-01</a:t>
            </a:r>
            <a:br/>
            <a:r>
              <a:t>review_owner: human creator</a:t>
            </a:r>
            <a:br/>
            <a:r>
              <a:t>accept_if: examples teach structure, not distinctive wording</a:t>
            </a:r>
          </a:p>
        </p:txBody>
      </p:sp>
    </p:spTree>
  </p:cSld>
  <p:clrMapOvr>
    <a:masterClrMapping/>
  </p:clrMapOvr>
  <p:transition spd="fast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Few-shot scene imitation control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062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near-copy reproduction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phrase-overlap review.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Few-shot scene imitation control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063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original example scenes and target schema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example pack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phrase-overlap 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Storyboard shot grammar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064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scene card and emotional intention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map shot size, angle, movement, duration and transition to story function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shot 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camera choice must reveal information or emotion</a:t>
            </a:r>
          </a:p>
        </p:txBody>
      </p:sp>
    </p:spTree>
  </p:cSld>
  <p:clrMapOvr>
    <a:masterClrMapping/>
  </p:clrMapOvr>
  <p:transition spd="fast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Storyboard shot grammar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065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scene card and emotional intention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map shot size, angle, movement, duration and transition to story function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shot list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motivated-shot share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camera choice must reveal information or emotion</a:t>
            </a:r>
          </a:p>
        </p:txBody>
      </p:sp>
    </p:spTree>
  </p:cSld>
  <p:clrMapOvr>
    <a:masterClrMapping/>
  </p:clrMapOvr>
  <p:transition spd="fast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Storyboard shot grammar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066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random cinematic adjectives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motivated-shot share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map shot size, angle, movement, duration and transition to story function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Storyboard shot grammar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067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story and scene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scene card and emotional intention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shot list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motivated-shot share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human approval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Continuity state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068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approved scenes and character bible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track wardrobe, props, geography, time, eyeline and emotional 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continuity sheet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next shot inherits all unchanged states</a:t>
            </a:r>
          </a:p>
        </p:txBody>
      </p:sp>
    </p:spTree>
  </p:cSld>
  <p:clrMapOvr>
    <a:masterClrMapping/>
  </p:clrMapOvr>
  <p:transition spd="fast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Continuity state ledger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069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SCENE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HL-S01 · version 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STORY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approved scenes and character bible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CREATIVE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track wardrobe, props, geography, time, eyeline and emotional state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ARTIFACT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continuity sheet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HUMAN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state mismatch count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ACCEPT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next shot inherits all unchanged states</a:t>
            </a:r>
          </a:p>
        </p:txBody>
      </p:sp>
    </p:spTree>
  </p:cSld>
  <p:clrMapOvr>
    <a:masterClrMapping/>
  </p:clrMapOvr>
  <p:transition spd="fast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Continuity state ledger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070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visual discontinuity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state mismatch count.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Continuity state ledger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071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approved scenes and character bible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continuity sheet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state mismatch 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Image prompt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072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shot list and continuity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specify subject, action, setting, composition, lens, light, palette and exclusions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visual prompt record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prompt must encode story function and continuity anchors</a:t>
            </a:r>
          </a:p>
        </p:txBody>
      </p:sp>
    </p:spTree>
  </p:cSld>
  <p:clrMapOvr>
    <a:masterClrMapping/>
  </p:clrMapOvr>
  <p:transition spd="fast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Image prompt anatomy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073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46504"/>
            <a:ext cx="519379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46504"/>
            <a:ext cx="91440" cy="42976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11095"/>
            <a:ext cx="473659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HARBOUR LIGHTS · STORY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59152"/>
            <a:ext cx="473659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Format: 90-second human-interest short</a:t>
            </a:r>
            <a:br/>
            <a:r>
              <a:t>Audience: Singapore adult learners</a:t>
            </a:r>
            <a:br/>
            <a:r>
              <a:t>Input: shot list and continuity state</a:t>
            </a:r>
            <a:br/>
            <a:r>
              <a:t>Creative operation: specify subject, action, setting, composition, lens, light, palette and exclusions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0176" y="1746504"/>
            <a:ext cx="569671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0176" y="1746504"/>
            <a:ext cx="91440" cy="42976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911095"/>
            <a:ext cx="523951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STRUCTURED ARTIFACT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359152"/>
            <a:ext cx="523951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artifact_type: visual prompt record</a:t>
            </a:r>
            <a:br/>
            <a:r>
              <a:t>story_id: HL-01</a:t>
            </a:r>
            <a:br/>
            <a:r>
              <a:t>review_owner: human creator</a:t>
            </a:r>
            <a:br/>
            <a:r>
              <a:t>accept_if: prompt must encode story function and continuity anchors</a:t>
            </a:r>
          </a:p>
        </p:txBody>
      </p:sp>
    </p:spTree>
  </p:cSld>
  <p:clrMapOvr>
    <a:masterClrMapping/>
  </p:clrMapOvr>
  <p:transition spd="fast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Image prompt anatomy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074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beautiful but unusable image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prompt field completeness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specify subject, action, setting, composition, lens, light, palette and exclusions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Image prompt anatomy · illustrative decision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075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755648"/>
          <a:ext cx="6583680" cy="4279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883664"/>
            <a:ext cx="4041648" cy="3986784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1883664"/>
            <a:ext cx="91440" cy="398678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048256"/>
            <a:ext cx="358444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CLASSROOM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496312"/>
            <a:ext cx="3584448" cy="32735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Illustrative scores only.</a:t>
            </a:r>
            <a:br/>
            <a:r>
              <a:t>Metric: prompt field completeness</a:t>
            </a:r>
            <a:br/>
            <a:r>
              <a:t>Compare against a pre-agreed release threshold; inspect evidence before approval.</a:t>
            </a:r>
          </a:p>
        </p:txBody>
      </p:sp>
    </p:spTree>
  </p:cSld>
  <p:clrMapOvr>
    <a:masterClrMapping/>
  </p:clrMapOvr>
  <p:transition spd="fast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Reference image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076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owned or licensed references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label style, subject, composition and edit-target roles separately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reference manifest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do not imply permission from mere access</a:t>
            </a:r>
          </a:p>
        </p:txBody>
      </p:sp>
    </p:spTree>
  </p:cSld>
  <p:clrMapOvr>
    <a:masterClrMapping/>
  </p:clrMapOvr>
  <p:transition spd="fast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Reference image control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077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owned or licensed references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label style, subject, composition and edit-target roles separately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reference manifest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rights-labelled reference rate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do not imply permission from mere access</a:t>
            </a:r>
          </a:p>
        </p:txBody>
      </p:sp>
    </p:spTree>
  </p:cSld>
  <p:clrMapOvr>
    <a:masterClrMapping/>
  </p:clrMapOvr>
  <p:transition spd="fast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Reference image control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078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unlicensed or ambiguous reference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rights-labelled reference rate.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Reference image control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079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owned or licensed references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reference manifest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rights-labelled reference rate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Iterative variation protocol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baseline prompt and generated frames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change one parameter, preserve invariants and score against rubric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variation log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retain a frame only when it improves named criteria</a:t>
            </a:r>
          </a:p>
        </p:txBody>
      </p:sp>
    </p:spTree>
  </p:cSld>
  <p:clrMapOvr>
    <a:masterClrMapping/>
  </p:clrMapOvr>
  <p:transition spd="fast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Iterative variation protocol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SCENE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HL-S01 · version 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STORY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baseline prompt and generated frames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CREATIVE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change one parameter, preserve invariants and score against rubric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ARTIFACT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variation log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HUMAN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single-variable iteration rate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ACCEPT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retain a frame only when it improves named criteria</a:t>
            </a:r>
          </a:p>
        </p:txBody>
      </p:sp>
    </p:spTree>
  </p:cSld>
  <p:clrMapOvr>
    <a:masterClrMapping/>
  </p:clrMapOvr>
  <p:transition spd="fast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Iterative variation protocol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082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untraceable prompt drift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single-variable iteration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change one parameter, preserve invariants and score against rubric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Iterative variation protocol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083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story and scene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baseline prompt and generated frames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variation log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single-variable iteration rate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human approval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Storyboard evaluation rubric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084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panels, shot list and story beat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score clarity, continuity, composition, emotion, feasibility and rights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storyboard QA sheet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block any critical continuity or rights failure</a:t>
            </a:r>
          </a:p>
        </p:txBody>
      </p:sp>
    </p:spTree>
  </p:cSld>
  <p:clrMapOvr>
    <a:masterClrMapping/>
  </p:clrMapOvr>
  <p:transition spd="fast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Storyboard evaluation rubric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46504"/>
            <a:ext cx="519379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46504"/>
            <a:ext cx="91440" cy="42976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11095"/>
            <a:ext cx="473659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HARBOUR LIGHTS · STORY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59152"/>
            <a:ext cx="473659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Format: 90-second human-interest short</a:t>
            </a:r>
            <a:br/>
            <a:r>
              <a:t>Audience: Singapore adult learners</a:t>
            </a:r>
            <a:br/>
            <a:r>
              <a:t>Input: panels, shot list and story beat</a:t>
            </a:r>
            <a:br/>
            <a:r>
              <a:t>Creative operation: score clarity, continuity, composition, emotion, feasibility and rights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0176" y="1746504"/>
            <a:ext cx="569671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0176" y="1746504"/>
            <a:ext cx="91440" cy="42976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911095"/>
            <a:ext cx="523951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STRUCTURED ARTIFACT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359152"/>
            <a:ext cx="523951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artifact_type: storyboard QA sheet</a:t>
            </a:r>
            <a:br/>
            <a:r>
              <a:t>story_id: HL-01</a:t>
            </a:r>
            <a:br/>
            <a:r>
              <a:t>review_owner: human creator</a:t>
            </a:r>
            <a:br/>
            <a:r>
              <a:t>accept_if: block any critical continuity or rights failure</a:t>
            </a:r>
          </a:p>
        </p:txBody>
      </p:sp>
    </p:spTree>
  </p:cSld>
  <p:clrMapOvr>
    <a:masterClrMapping/>
  </p:clrMapOvr>
  <p:transition spd="fast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Storyboard evaluation rubric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086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subjective approval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rubric agreement.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Storyboard evaluation rubric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087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panels, shot list and story beat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storyboard QA sheet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rubric agreement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Animatic timing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088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approved storyboard and dialogue timing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combine shot durations, pauses, transitions and audio cues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timed animatic plan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total duration must fit delivery constraint</a:t>
            </a:r>
          </a:p>
        </p:txBody>
      </p:sp>
    </p:spTree>
  </p:cSld>
  <p:clrMapOvr>
    <a:masterClrMapping/>
  </p:clrMapOvr>
  <p:transition spd="fast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Animatic timing model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089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approved storyboard and dialogue timing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combine shot durations, pauses, transitions and audio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timed animatic plan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duration variance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total duration must fit delivery constraint</a:t>
            </a:r>
          </a:p>
        </p:txBody>
      </p:sp>
    </p:spTree>
  </p:cSld>
  <p:clrMapOvr>
    <a:masterClrMapping/>
  </p:clrMapOvr>
  <p:transition spd="fast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Animatic timing model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090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pacing collapse in edit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duration variance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combine shot durations, pauses, transitions and audio cues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2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Animatic timing model · illustrative decision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091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755648"/>
          <a:ext cx="6583680" cy="4279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883664"/>
            <a:ext cx="4041648" cy="3986784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1883664"/>
            <a:ext cx="91440" cy="398678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048256"/>
            <a:ext cx="358444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CLASSROOM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496312"/>
            <a:ext cx="3584448" cy="32735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Illustrative scores only.</a:t>
            </a:r>
            <a:br/>
            <a:r>
              <a:t>Metric: duration variance</a:t>
            </a:r>
            <a:br/>
            <a:r>
              <a:t>Compare against a pre-agreed release threshold; inspect evidence before approval.</a:t>
            </a:r>
          </a:p>
        </p:txBody>
      </p:sp>
    </p:spTree>
  </p:cSld>
  <p:clrMapOvr>
    <a:masterClrMapping/>
  </p:clrMapOvr>
  <p:transition spd="fast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PRACTICE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Topic 2 · lab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092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LAB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Prompt contract and shot grammar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LAB 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Storyboard continuity and animatic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</p:spTree>
  </p:cSld>
  <p:clrMapOvr>
    <a:masterClrMapping/>
  </p:clrMapOvr>
  <p:transition spd="fast">
    <p:push dir="r"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LO3 · MED-MED-3004-1.1 AI CONTENT GENERATION FOR SCRIPT DEVELOPMENT-3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12648"/>
            <a:ext cx="11109960" cy="10241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2600" b="1">
                <a:solidFill>
                  <a:srgbClr val="182840"/>
                </a:solidFill>
                <a:latin typeface="Aptos"/>
              </a:defRPr>
            </a:pPr>
            <a:r>
              <a:rPr sz="2300"/>
              <a:t>Topic 3: Script analysis, revision and multimodal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66420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093</a:t>
            </a:r>
          </a:p>
        </p:txBody>
      </p:sp>
      <p:pic>
        <p:nvPicPr>
          <p:cNvPr id="9" name="Picture 8" descr="story-architecture-de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56231"/>
            <a:ext cx="6675120" cy="424281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98079" y="1856231"/>
            <a:ext cx="4187952" cy="4242816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304288"/>
            <a:ext cx="3547872" cy="2651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1">
                <a:solidFill>
                  <a:srgbClr val="182840"/>
                </a:solidFill>
                <a:latin typeface="Aptos"/>
              </a:defRPr>
            </a:pPr>
            <a:r>
              <a:t>LO3: Utilise generative AI tools to refine video scripts for clarity, tone, and narrative consistency.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404104"/>
            <a:ext cx="35661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500" b="1">
                <a:solidFill>
                  <a:srgbClr val="008B8B"/>
                </a:solidFill>
                <a:latin typeface="Aptos"/>
              </a:defRPr>
            </a:pPr>
            <a:r>
              <a:t>10 mechanisms · 2 labs</a:t>
            </a:r>
          </a:p>
        </p:txBody>
      </p:sp>
    </p:spTree>
  </p:cSld>
  <p:clrMapOvr>
    <a:masterClrMapping/>
  </p:clrMapOvr>
  <p:transition spd="fast">
    <p:push dir="r"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Script document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094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draft script and format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parse slugline, action, character, dialogue, parenthetical and transition roles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structured script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every line has one production function</a:t>
            </a:r>
          </a:p>
        </p:txBody>
      </p:sp>
    </p:spTree>
  </p:cSld>
  <p:clrMapOvr>
    <a:masterClrMapping/>
  </p:clrMapOvr>
  <p:transition spd="fast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Script document schema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095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draft script and format 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parse slugline, action, character, dialogue, parenthetical and transition roles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structured script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schema-valid line rate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every line has one production function</a:t>
            </a:r>
          </a:p>
        </p:txBody>
      </p:sp>
    </p:spTree>
  </p:cSld>
  <p:clrMapOvr>
    <a:masterClrMapping/>
  </p:clrMapOvr>
  <p:transition spd="fast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Script document schema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096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mixed prose and screenplay syntax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schema-valid line rate.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Script document schema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097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draft script and format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structured 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schema-valid line rate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Dialogue subtext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098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character objectives and scene conflict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compare spoken line with hidden tactic, status and emotional pressure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subtext annotation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retain line only if it advances tactic or reveals conflict</a:t>
            </a:r>
          </a:p>
        </p:txBody>
      </p:sp>
    </p:spTree>
  </p:cSld>
  <p:clrMapOvr>
    <a:masterClrMapping/>
  </p:clrMapOvr>
  <p:transition spd="fast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Dialogue subtext test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099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SCENE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HL-S01 · version 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STORY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character objectives and scene conflict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CREATIVE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compare spoken line with hidden tactic, status and emotional pressure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ARTIFACT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subtext annotation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HUMAN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subtext-bearing line rate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ACCEPT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retain line only if it advances tactic or reveals conflict</a:t>
            </a:r>
          </a:p>
        </p:txBody>
      </p:sp>
    </p:spTree>
  </p:cSld>
  <p:clrMapOvr>
    <a:masterClrMapping/>
  </p:clrMapOvr>
  <p:transition spd="fast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Dialogue subtext test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on-the-nose explanation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subtext-bearing line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compare spoken line with hidden tactic, status and emotional pressure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Dialogue subtext test · illustrative decision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101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755648"/>
          <a:ext cx="6583680" cy="4279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883664"/>
            <a:ext cx="4041648" cy="3986784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1883664"/>
            <a:ext cx="91440" cy="398678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048256"/>
            <a:ext cx="358444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CLASSROOM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496312"/>
            <a:ext cx="3584448" cy="32735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Illustrative scores only.</a:t>
            </a:r>
            <a:br/>
            <a:r>
              <a:t>Metric: subtext-bearing line rate</a:t>
            </a:r>
            <a:br/>
            <a:r>
              <a:t>Compare against a pre-agreed release threshold; inspect evidence before approval.</a:t>
            </a:r>
          </a:p>
        </p:txBody>
      </p:sp>
    </p:spTree>
  </p:cSld>
  <p:clrMapOvr>
    <a:masterClrMapping/>
  </p:clrMapOvr>
  <p:transition spd="fast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Readability and rhythm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script text and audience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measure sentence length, lexical difficulty, repetition and pause pattern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language report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revise outliers without flattening voice</a:t>
            </a:r>
          </a:p>
        </p:txBody>
      </p:sp>
    </p:spTree>
  </p:cSld>
  <p:clrMapOvr>
    <a:masterClrMapping/>
  </p:clrMapOvr>
  <p:transition spd="fast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Readability and rhythm profile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46504"/>
            <a:ext cx="519379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46504"/>
            <a:ext cx="91440" cy="42976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11095"/>
            <a:ext cx="473659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HARBOUR LIGHTS · STORY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59152"/>
            <a:ext cx="473659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Format: 90-second human-interest short</a:t>
            </a:r>
            <a:br/>
            <a:r>
              <a:t>Audience: Singapore adult learners</a:t>
            </a:r>
            <a:br/>
            <a:r>
              <a:t>Input: script text and audience level</a:t>
            </a:r>
            <a:br/>
            <a:r>
              <a:t>Creative operation: measure sentence length, lexical difficulty, repetition and pause pattern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0176" y="1746504"/>
            <a:ext cx="569671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0176" y="1746504"/>
            <a:ext cx="91440" cy="42976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911095"/>
            <a:ext cx="523951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STRUCTURED ARTIFACT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359152"/>
            <a:ext cx="523951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artifact_type: language report</a:t>
            </a:r>
            <a:br/>
            <a:r>
              <a:t>story_id: HL-01</a:t>
            </a:r>
            <a:br/>
            <a:r>
              <a:t>review_owner: human creator</a:t>
            </a:r>
            <a:br/>
            <a:r>
              <a:t>accept_if: revise outliers without flattening voice</a:t>
            </a:r>
          </a:p>
        </p:txBody>
      </p:sp>
    </p:spTree>
  </p:cSld>
  <p:clrMapOvr>
    <a:masterClrMapping/>
  </p:clrMapOvr>
  <p:transition spd="fast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Readability and rhythm profile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mechanical simplification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target-band compliance.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Readability and rhythm profile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script text and audience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language report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target-band compliance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Tone vector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brand or genre samples and draft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score warmth, formality, urgency, humour and intensity with cited examples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tone matrix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revision must move failed dimensions while preserving plot facts</a:t>
            </a:r>
          </a:p>
        </p:txBody>
      </p:sp>
    </p:spTree>
  </p:cSld>
  <p:clrMapOvr>
    <a:masterClrMapping/>
  </p:clrMapOvr>
  <p:transition spd="fast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Tone vector control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107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brand or genre samples and draft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score warmth, formality, urgency, humour and intensity with cited examples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tone matrix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dimension delta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revision must move failed dimensions while preserving plot facts</a:t>
            </a:r>
          </a:p>
        </p:txBody>
      </p:sp>
    </p:spTree>
  </p:cSld>
  <p:clrMapOvr>
    <a:masterClrMapping/>
  </p:clrMapOvr>
  <p:transition spd="fast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Tone vector control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tone drift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dimension delta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score warmth, formality, urgency, humour and intensity with cited examples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Tone vector control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109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story and scene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brand or genre samples and draft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tone matrix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dimension delta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human approval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Narrative consistency 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character, prop, location and event 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link entities and temporal dependencies across scenes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continuity graph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flag impossible order or unsupported state change</a:t>
            </a:r>
          </a:p>
        </p:txBody>
      </p:sp>
    </p:spTree>
  </p:cSld>
  <p:clrMapOvr>
    <a:masterClrMapping/>
  </p:clrMapOvr>
  <p:transition spd="fast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Narrative consistency graph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SCENE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HL-S01 · version 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STORY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character, prop, location and event claims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CREATIVE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link entities and temporal dependencies across scenes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ARTIFACT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continuity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HUMAN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unresolved contradiction count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ACCEPT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flag impossible order or unsupported state change</a:t>
            </a:r>
          </a:p>
        </p:txBody>
      </p:sp>
    </p:spTree>
  </p:cSld>
  <p:clrMapOvr>
    <a:masterClrMapping/>
  </p:clrMapOvr>
  <p:transition spd="fast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Narrative consistency graph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contradiction hidden in long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unresolved contradiction count.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Narrative consistency graph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character, prop, location and event 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continuity graph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unresolved contradiction 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Pacing by information load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scene durations and new information units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estimate reveal density, emotional beat spacing and recovery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pacing map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slow or split overloaded sequences</a:t>
            </a:r>
          </a:p>
        </p:txBody>
      </p:sp>
    </p:spTree>
  </p:cSld>
  <p:clrMapOvr>
    <a:masterClrMapping/>
  </p:clrMapOvr>
  <p:transition spd="fast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Pacing by information load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46504"/>
            <a:ext cx="519379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46504"/>
            <a:ext cx="91440" cy="42976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11095"/>
            <a:ext cx="473659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HARBOUR LIGHTS · STORY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59152"/>
            <a:ext cx="473659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Format: 90-second human-interest short</a:t>
            </a:r>
            <a:br/>
            <a:r>
              <a:t>Audience: Singapore adult learners</a:t>
            </a:r>
            <a:br/>
            <a:r>
              <a:t>Input: scene durations and new information units</a:t>
            </a:r>
            <a:br/>
            <a:r>
              <a:t>Creative operation: estimate reveal density, emotional beat spacing and recovery 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0176" y="1746504"/>
            <a:ext cx="569671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0176" y="1746504"/>
            <a:ext cx="91440" cy="42976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911095"/>
            <a:ext cx="523951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STRUCTURED ARTIFACT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359152"/>
            <a:ext cx="523951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artifact_type: pacing map</a:t>
            </a:r>
            <a:br/>
            <a:r>
              <a:t>story_id: HL-01</a:t>
            </a:r>
            <a:br/>
            <a:r>
              <a:t>review_owner: human creator</a:t>
            </a:r>
            <a:br/>
            <a:r>
              <a:t>accept_if: slow or split overloaded sequences</a:t>
            </a:r>
          </a:p>
        </p:txBody>
      </p:sp>
    </p:spTree>
  </p:cSld>
  <p:clrMapOvr>
    <a:masterClrMapping/>
  </p:clrMapOvr>
  <p:transition spd="fast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Pacing by information load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constant tempo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information units per minute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estimate reveal density, emotional beat spacing and recovery 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Pacing by information load · illustrative decision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117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755648"/>
          <a:ext cx="6583680" cy="4279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883664"/>
            <a:ext cx="4041648" cy="3986784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1883664"/>
            <a:ext cx="91440" cy="398678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048256"/>
            <a:ext cx="358444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CLASSROOM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496312"/>
            <a:ext cx="3584448" cy="32735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Illustrative scores only.</a:t>
            </a:r>
            <a:br/>
            <a:r>
              <a:t>Metric: information units per minute</a:t>
            </a:r>
            <a:br/>
            <a:r>
              <a:t>Compare against a pre-agreed release threshold; inspect evidence before approval.</a:t>
            </a:r>
          </a:p>
        </p:txBody>
      </p:sp>
    </p:spTree>
  </p:cSld>
  <p:clrMapOvr>
    <a:masterClrMapping/>
  </p:clrMapOvr>
  <p:transition spd="fast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Revision diff and rationale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baseline draft and review rubric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change only failed criteria and explain each consequential edit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revision log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every edit maps to evidence or creative intent</a:t>
            </a:r>
          </a:p>
        </p:txBody>
      </p:sp>
    </p:spTree>
  </p:cSld>
  <p:clrMapOvr>
    <a:masterClrMapping/>
  </p:clrMapOvr>
  <p:transition spd="fast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Revision diff and rationale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119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baseline draft and review rubric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change only failed criteria and explain each consequential edit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revision log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defect closure rate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every edit maps to evidence or creative intent</a:t>
            </a:r>
          </a:p>
        </p:txBody>
      </p:sp>
    </p:spTree>
  </p:cSld>
  <p:clrMapOvr>
    <a:masterClrMapping/>
  </p:clrMapOvr>
  <p:transition spd="fast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Revision diff and rationale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endless cosmetic rewrite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defect closure rate.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Revision diff and rationale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baseline draft and review rubric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revision 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defect closure rate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Voiceover and dialogue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visual action and information needs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assign only non-visible information to narration and preserve scene sound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audio script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remove narration that merely describes the picture</a:t>
            </a:r>
          </a:p>
        </p:txBody>
      </p:sp>
    </p:spTree>
  </p:cSld>
  <p:clrMapOvr>
    <a:masterClrMapping/>
  </p:clrMapOvr>
  <p:transition spd="fast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Voiceover and dialogue split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SCENE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HL-S01 · version 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STORY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visual action and information needs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CREATIVE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assign only non-visible information to narration and preserve scene sound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ARTIFACT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audio script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HUMAN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audio-visual complementarity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ACCEPT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remove narration that merely describes the picture</a:t>
            </a:r>
          </a:p>
        </p:txBody>
      </p:sp>
    </p:spTree>
  </p:cSld>
  <p:clrMapOvr>
    <a:masterClrMapping/>
  </p:clrMapOvr>
  <p:transition spd="fast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Voiceover and dialogue split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redundant voiceover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audio-visual complementarity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assign only non-visible information to narration and preserve scene sound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Voiceover and dialogue split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125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story and scene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visual action and information needs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audio script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audio-visual complementarity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human approval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Multimodal asset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script, storyboard, audio and captions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bind asset IDs, scene IDs, timing, owner and 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production manifest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no orphan asset enters the edit</a:t>
            </a:r>
          </a:p>
        </p:txBody>
      </p:sp>
    </p:spTree>
  </p:cSld>
  <p:clrMapOvr>
    <a:masterClrMapping/>
  </p:clrMapOvr>
  <p:transition spd="fast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Multimodal asset map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46504"/>
            <a:ext cx="519379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46504"/>
            <a:ext cx="91440" cy="42976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11095"/>
            <a:ext cx="473659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HARBOUR LIGHTS · STORY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59152"/>
            <a:ext cx="473659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Format: 90-second human-interest short</a:t>
            </a:r>
            <a:br/>
            <a:r>
              <a:t>Audience: Singapore adult learners</a:t>
            </a:r>
            <a:br/>
            <a:r>
              <a:t>Input: script, storyboard, audio and captions</a:t>
            </a:r>
            <a:br/>
            <a:r>
              <a:t>Creative operation: bind asset IDs, scene IDs, timing, owner and version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0176" y="1746504"/>
            <a:ext cx="569671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0176" y="1746504"/>
            <a:ext cx="91440" cy="42976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911095"/>
            <a:ext cx="523951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STRUCTURED ARTIFACT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359152"/>
            <a:ext cx="523951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artifact_type: production manifest</a:t>
            </a:r>
            <a:br/>
            <a:r>
              <a:t>story_id: HL-01</a:t>
            </a:r>
            <a:br/>
            <a:r>
              <a:t>review_owner: human creator</a:t>
            </a:r>
            <a:br/>
            <a:r>
              <a:t>accept_if: no orphan asset enters the edit</a:t>
            </a:r>
          </a:p>
        </p:txBody>
      </p:sp>
    </p:spTree>
  </p:cSld>
  <p:clrMapOvr>
    <a:masterClrMapping/>
  </p:clrMapOvr>
  <p:transition spd="fast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Multimodal asset map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wrong-version media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manifest completeness.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Multimodal asset map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script, storyboard, audio and captions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production manifest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manifest completeness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Rough-cut acceptance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edit timeline and delivery 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review narrative clarity, sync, pacing, captions, mix and export settings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rough-cut report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release only when critical defects are zero</a:t>
            </a:r>
          </a:p>
        </p:txBody>
      </p:sp>
    </p:spTree>
  </p:cSld>
  <p:clrMapOvr>
    <a:masterClrMapping/>
  </p:clrMapOvr>
  <p:transition spd="fast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Rough-cut acceptance gate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131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edit timeline and delivery brief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review narrative clarity, sync, pacing, captions, mix and export settings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rough-cut report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critical defect count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release only when critical defects are zero</a:t>
            </a:r>
          </a:p>
        </p:txBody>
      </p:sp>
    </p:spTree>
  </p:cSld>
  <p:clrMapOvr>
    <a:masterClrMapping/>
  </p:clrMapOvr>
  <p:transition spd="fast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Rough-cut acceptance gate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technically exported but narratively unclear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critical defect count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review narrative clarity, sync, pacing, captions, mix and export settings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3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Rough-cut acceptance gate · illustrative decision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133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755648"/>
          <a:ext cx="6583680" cy="4279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883664"/>
            <a:ext cx="4041648" cy="3986784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1883664"/>
            <a:ext cx="91440" cy="398678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048256"/>
            <a:ext cx="358444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CLASSROOM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496312"/>
            <a:ext cx="3584448" cy="32735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Illustrative scores only.</a:t>
            </a:r>
            <a:br/>
            <a:r>
              <a:t>Metric: critical defect count</a:t>
            </a:r>
            <a:br/>
            <a:r>
              <a:t>Compare against a pre-agreed release threshold; inspect evidence before approval.</a:t>
            </a:r>
          </a:p>
        </p:txBody>
      </p:sp>
    </p:spTree>
  </p:cSld>
  <p:clrMapOvr>
    <a:masterClrMapping/>
  </p:clrMapOvr>
  <p:transition spd="fast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PRACTICE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Topic 3 · lab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LAB 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Script parsing and diagnostic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LAB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Revision, voiceover and rough-cut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</p:spTree>
  </p:cSld>
  <p:clrMapOvr>
    <a:masterClrMapping/>
  </p:clrMapOvr>
  <p:transition spd="fast">
    <p:push dir="r"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LO4 · MED-MED-3004-1.1 AI CONTENT GENERATION FOR SCRIPT DEVELOPMENT-3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12648"/>
            <a:ext cx="11109960" cy="10241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2600" b="1">
                <a:solidFill>
                  <a:srgbClr val="182840"/>
                </a:solidFill>
                <a:latin typeface="Aptos"/>
              </a:defRPr>
            </a:pPr>
            <a:r>
              <a:rPr sz="2300"/>
              <a:t>Topic 4: Bias, authenticity and responsible creative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66420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135</a:t>
            </a:r>
          </a:p>
        </p:txBody>
      </p:sp>
      <p:pic>
        <p:nvPicPr>
          <p:cNvPr id="9" name="Picture 8" descr="rights-review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56231"/>
            <a:ext cx="6675120" cy="424281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98079" y="1856231"/>
            <a:ext cx="4187952" cy="4242816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304288"/>
            <a:ext cx="3547872" cy="2651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1">
                <a:solidFill>
                  <a:srgbClr val="182840"/>
                </a:solidFill>
                <a:latin typeface="Aptos"/>
              </a:defRPr>
            </a:pPr>
            <a:r>
              <a:t>LO4: Analyse generative AI outputs for ethical issues, bias, and copyright risks, applying appropriate corrective actions.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404104"/>
            <a:ext cx="35661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500" b="1">
                <a:solidFill>
                  <a:srgbClr val="008B8B"/>
                </a:solidFill>
                <a:latin typeface="Aptos"/>
              </a:defRPr>
            </a:pPr>
            <a:r>
              <a:t>10 mechanisms · 2 labs</a:t>
            </a:r>
          </a:p>
        </p:txBody>
      </p:sp>
    </p:spTree>
  </p:cSld>
  <p:clrMapOvr>
    <a:masterClrMapping/>
  </p:clrMapOvr>
  <p:transition spd="fast">
    <p:push dir="r"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Bias surface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story bible, audience and generated draft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inspect representation, agency, descriptors, roles, harm and omission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bias review matrix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review impact, not only model intent</a:t>
            </a:r>
          </a:p>
        </p:txBody>
      </p:sp>
    </p:spTree>
  </p:cSld>
  <p:clrMapOvr>
    <a:masterClrMapping/>
  </p:clrMapOvr>
  <p:transition spd="fast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Bias surface map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137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story bible, audience and generated draft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inspect representation, agency, descriptors, roles, harm and omission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bias review matrix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flagged pattern count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review impact, not only model intent</a:t>
            </a:r>
          </a:p>
        </p:txBody>
      </p:sp>
    </p:spTree>
  </p:cSld>
  <p:clrMapOvr>
    <a:masterClrMapping/>
  </p:clrMapOvr>
  <p:transition spd="fast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Bias surface map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stereotype reproduced as realism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flagged pattern count.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Bias surface map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139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story bible, audience and generated draft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bias review matrix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flagged pattern 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Counterfactual character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character and scene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change one protected or social attribute and compare role, agency and outcome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counterfactual report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investigate unexplained quality or outcome shifts</a:t>
            </a:r>
          </a:p>
        </p:txBody>
      </p:sp>
    </p:spTree>
  </p:cSld>
  <p:clrMapOvr>
    <a:masterClrMapping/>
  </p:clrMapOvr>
  <p:transition spd="fast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Counterfactual character test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SCENE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HL-S01 · version 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STORY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character and scene records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CREATIVE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change one protected or social attribute and compare role, agency and outcome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ARTIFACT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counterfactual report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HUMAN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outcome asymmetry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ACCEPT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investigate unexplained quality or outcome shifts</a:t>
            </a:r>
          </a:p>
        </p:txBody>
      </p:sp>
    </p:spTree>
  </p:cSld>
  <p:clrMapOvr>
    <a:masterClrMapping/>
  </p:clrMapOvr>
  <p:transition spd="fast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Counterfactual character test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142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token diversity without agency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outcome asymmetry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change one protected or social attribute and compare role, agency and outcome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2600" b="1">
                <a:solidFill>
                  <a:srgbClr val="182840"/>
                </a:solidFill>
                <a:latin typeface="Aptos"/>
              </a:defRPr>
            </a:pPr>
            <a:r>
              <a:t>Counterfactual character test · illustrative decision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143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755648"/>
          <a:ext cx="6583680" cy="4279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883664"/>
            <a:ext cx="4041648" cy="3986784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1883664"/>
            <a:ext cx="91440" cy="398678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048256"/>
            <a:ext cx="358444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CLASSROOM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496312"/>
            <a:ext cx="3584448" cy="32735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Illustrative scores only.</a:t>
            </a:r>
            <a:br/>
            <a:r>
              <a:t>Metric: outcome asymmetry</a:t>
            </a:r>
            <a:br/>
            <a:r>
              <a:t>Compare against a pre-agreed release threshold; inspect evidence before approval.</a:t>
            </a:r>
          </a:p>
        </p:txBody>
      </p:sp>
    </p:spTree>
  </p:cSld>
  <p:clrMapOvr>
    <a:masterClrMapping/>
  </p:clrMapOvr>
  <p:transition spd="fast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Cultural specificity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144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setting claims and cultural references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separate researched detail, lived contribution and generic 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sensitivity notes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escalate high-impact claims to an informed reviewer</a:t>
            </a:r>
          </a:p>
        </p:txBody>
      </p:sp>
    </p:spTree>
  </p:cSld>
  <p:clrMapOvr>
    <a:masterClrMapping/>
  </p:clrMapOvr>
  <p:transition spd="fast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Cultural specificity check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46504"/>
            <a:ext cx="519379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46504"/>
            <a:ext cx="91440" cy="42976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11095"/>
            <a:ext cx="473659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HARBOUR LIGHTS · STORY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59152"/>
            <a:ext cx="473659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Format: 90-second human-interest short</a:t>
            </a:r>
            <a:br/>
            <a:r>
              <a:t>Audience: Singapore adult learners</a:t>
            </a:r>
            <a:br/>
            <a:r>
              <a:t>Input: setting claims and cultural references</a:t>
            </a:r>
            <a:br/>
            <a:r>
              <a:t>Creative operation: separate researched detail, lived contribution and generic inference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0176" y="1746504"/>
            <a:ext cx="569671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0176" y="1746504"/>
            <a:ext cx="91440" cy="42976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911095"/>
            <a:ext cx="523951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STRUCTURED ARTIFACT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359152"/>
            <a:ext cx="523951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artifact_type: sensitivity notes</a:t>
            </a:r>
            <a:br/>
            <a:r>
              <a:t>story_id: HL-01</a:t>
            </a:r>
            <a:br/>
            <a:r>
              <a:t>review_owner: human creator</a:t>
            </a:r>
            <a:br/>
            <a:r>
              <a:t>accept_if: escalate high-impact claims to an informed reviewer</a:t>
            </a:r>
          </a:p>
        </p:txBody>
      </p:sp>
    </p:spTree>
  </p:cSld>
  <p:clrMapOvr>
    <a:masterClrMapping/>
  </p:clrMapOvr>
  <p:transition spd="fast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Cultural specificity check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146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flattened cultural shorthand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verified-detail share.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Cultural specificity check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setting claims and cultural references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sensitivity notes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verified-detail share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Factual claim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script claims and sources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classify supported, disputed, uncertain, fictional or opinion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claim register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block unsupported real-world claims</a:t>
            </a:r>
          </a:p>
        </p:txBody>
      </p:sp>
    </p:spTree>
  </p:cSld>
  <p:clrMapOvr>
    <a:masterClrMapping/>
  </p:clrMapOvr>
  <p:transition spd="fast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Factual claim ledger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149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script claims and sources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classify supported, disputed, uncertain, fictional or opinion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claim register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supported-claim rate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block unsupported real-world claims</a:t>
            </a:r>
          </a:p>
        </p:txBody>
      </p:sp>
    </p:spTree>
  </p:cSld>
  <p:clrMapOvr>
    <a:masterClrMapping/>
  </p:clrMapOvr>
  <p:transition spd="fast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Factual claim ledger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hallucinated authority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supported-claim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classify supported, disputed, uncertain, fictional or opinion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Factual claim ledger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151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story and scene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script claims and sources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claim register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supported-claim rate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human approval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Authenticity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human experience and AI-assisted language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record whose experience, voice and consent supports the narrative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authenticity statement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do not fabricate testimony or lived experience</a:t>
            </a:r>
          </a:p>
        </p:txBody>
      </p:sp>
    </p:spTree>
  </p:cSld>
  <p:clrMapOvr>
    <a:masterClrMapping/>
  </p:clrMapOvr>
  <p:transition spd="fast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Authenticity boundary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153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SCENE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HL-S01 · version 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STORY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human experience and AI-assisted language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CREATIVE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record whose experience, voice and consent supports the narrative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ARTIFACT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authenticity statement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HUMAN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consent coverage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ACCEPT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do not fabricate testimony or lived experience</a:t>
            </a:r>
          </a:p>
        </p:txBody>
      </p:sp>
    </p:spTree>
  </p:cSld>
  <p:clrMapOvr>
    <a:masterClrMapping/>
  </p:clrMapOvr>
  <p:transition spd="fast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Authenticity boundary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154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synthetic personal story presented as real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consent coverage.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Authenticity boundary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155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human experience and AI-assisted language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authenticity statement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consent coverage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Synthetic media disclosure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generated image, audio or video and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assess audience expectation, materiality and deceptive potential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disclosure decision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disclose when generation could mislead a reasonable viewer</a:t>
            </a:r>
          </a:p>
        </p:txBody>
      </p:sp>
    </p:spTree>
  </p:cSld>
  <p:clrMapOvr>
    <a:masterClrMapping/>
  </p:clrMapOvr>
  <p:transition spd="fast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Synthetic media disclosure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46504"/>
            <a:ext cx="519379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46504"/>
            <a:ext cx="91440" cy="42976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11095"/>
            <a:ext cx="473659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HARBOUR LIGHTS · STORY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59152"/>
            <a:ext cx="473659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Format: 90-second human-interest short</a:t>
            </a:r>
            <a:br/>
            <a:r>
              <a:t>Audience: Singapore adult learners</a:t>
            </a:r>
            <a:br/>
            <a:r>
              <a:t>Input: generated image, audio or video and context</a:t>
            </a:r>
            <a:br/>
            <a:r>
              <a:t>Creative operation: assess audience expectation, materiality and deceptive potential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0176" y="1746504"/>
            <a:ext cx="569671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0176" y="1746504"/>
            <a:ext cx="91440" cy="42976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911095"/>
            <a:ext cx="523951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STRUCTURED ARTIFACT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359152"/>
            <a:ext cx="523951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artifact_type: disclosure decision</a:t>
            </a:r>
            <a:br/>
            <a:r>
              <a:t>story_id: HL-01</a:t>
            </a:r>
            <a:br/>
            <a:r>
              <a:t>review_owner: human creator</a:t>
            </a:r>
            <a:br/>
            <a:r>
              <a:t>accept_if: disclose when generation could mislead a reasonable viewer</a:t>
            </a:r>
          </a:p>
        </p:txBody>
      </p:sp>
    </p:spTree>
  </p:cSld>
  <p:clrMapOvr>
    <a:masterClrMapping/>
  </p:clrMapOvr>
  <p:transition spd="fast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Synthetic media disclosure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158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undisclosed realistic fabrication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decision trace completeness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assess audience expectation, materiality and deceptive potential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Synthetic media disclosure · illustrative decision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159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755648"/>
          <a:ext cx="6583680" cy="4279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883664"/>
            <a:ext cx="4041648" cy="3986784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1883664"/>
            <a:ext cx="91440" cy="398678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048256"/>
            <a:ext cx="358444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CLASSROOM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496312"/>
            <a:ext cx="3584448" cy="32735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Illustrative scores only.</a:t>
            </a:r>
            <a:br/>
            <a:r>
              <a:t>Metric: decision trace completeness</a:t>
            </a:r>
            <a:br/>
            <a:r>
              <a:t>Compare against a pre-agreed release threshold; inspect evidence before approval.</a:t>
            </a:r>
          </a:p>
        </p:txBody>
      </p:sp>
    </p:spTree>
  </p:cSld>
  <p:clrMapOvr>
    <a:masterClrMapping/>
  </p:clrMapOvr>
  <p:transition spd="fast">
    <p:fade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Privacy-minimised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160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source material and tool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remove identifiers, secrets and unnecessary personal data before upload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safe prompt pack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use only data necessary for the creative task</a:t>
            </a:r>
          </a:p>
        </p:txBody>
      </p:sp>
    </p:spTree>
  </p:cSld>
  <p:clrMapOvr>
    <a:masterClrMapping/>
  </p:clrMapOvr>
  <p:transition spd="fast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Privacy-minimised prompting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161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source material and tool policy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remove identifiers, secrets and unnecessary personal data before upload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safe prompt pack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PII leakage count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use only data necessary for the creative task</a:t>
            </a:r>
          </a:p>
        </p:txBody>
      </p:sp>
    </p:spTree>
  </p:cSld>
  <p:clrMapOvr>
    <a:masterClrMapping/>
  </p:clrMapOvr>
  <p:transition spd="fast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Privacy-minimised prompting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162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personal data copied into public tool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PII leakage count.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Privacy-minimised prompting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163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source material and tool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safe prompt pack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PII leakage 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Safety and harm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164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story content and audience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screen self-harm, violence, sexual content, defamation and vulnerable groups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harm 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escalate high-severity or uncertain cases</a:t>
            </a:r>
          </a:p>
        </p:txBody>
      </p:sp>
    </p:spTree>
  </p:cSld>
  <p:clrMapOvr>
    <a:masterClrMapping/>
  </p:clrMapOvr>
  <p:transition spd="fast">
    <p:fade/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Safety and harm review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165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SCENE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HL-S01 · version 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STORY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story content and audience context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CREATIVE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screen self-harm, violence, sexual content, defamation and vulnerable groups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ARTIFACT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harm 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HUMAN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severity-weighted findings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ACCEPT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escalate high-severity or uncertain cases</a:t>
            </a:r>
          </a:p>
        </p:txBody>
      </p:sp>
    </p:spTree>
  </p:cSld>
  <p:clrMapOvr>
    <a:masterClrMapping/>
  </p:clrMapOvr>
  <p:transition spd="fast">
    <p:fade/>
  </p:transition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Safety and harm review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166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creative framing masks harm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severity-weighted findings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screen self-harm, violence, sexual content, defamation and vulnerable groups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Safety and harm review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167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story and scene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story content and audience context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harm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severity-weighted findings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human approval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Human red-team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168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near-final assets and failure hypotheses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assign reviewers to challenge evidence, bias, continuity and deception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red-team log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every high-risk issue has owner and disposition</a:t>
            </a:r>
          </a:p>
        </p:txBody>
      </p:sp>
    </p:spTree>
  </p:cSld>
  <p:clrMapOvr>
    <a:masterClrMapping/>
  </p:clrMapOvr>
  <p:transition spd="fast">
    <p:fade/>
  </p:transition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Human red-team session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169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46504"/>
            <a:ext cx="519379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46504"/>
            <a:ext cx="91440" cy="42976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11095"/>
            <a:ext cx="473659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HARBOUR LIGHTS · STORY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59152"/>
            <a:ext cx="473659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Format: 90-second human-interest short</a:t>
            </a:r>
            <a:br/>
            <a:r>
              <a:t>Audience: Singapore adult learners</a:t>
            </a:r>
            <a:br/>
            <a:r>
              <a:t>Input: near-final assets and failure hypotheses</a:t>
            </a:r>
            <a:br/>
            <a:r>
              <a:t>Creative operation: assign reviewers to challenge evidence, bias, continuity and deception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0176" y="1746504"/>
            <a:ext cx="569671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0176" y="1746504"/>
            <a:ext cx="91440" cy="42976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911095"/>
            <a:ext cx="523951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STRUCTURED ARTIFACT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359152"/>
            <a:ext cx="523951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artifact_type: red-team log</a:t>
            </a:r>
            <a:br/>
            <a:r>
              <a:t>story_id: HL-01</a:t>
            </a:r>
            <a:br/>
            <a:r>
              <a:t>review_owner: human creator</a:t>
            </a:r>
            <a:br/>
            <a:r>
              <a:t>accept_if: every high-risk issue has owner and disposition</a:t>
            </a:r>
          </a:p>
        </p:txBody>
      </p:sp>
    </p:spTree>
  </p:cSld>
  <p:clrMapOvr>
    <a:masterClrMapping/>
  </p:clrMapOvr>
  <p:transition spd="fast">
    <p:fade/>
  </p:transition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Human red-team session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170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group confirmation bias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closed finding rate.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Human red-team session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171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near-final assets and failure hypotheses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red-team 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closed finding rate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Responsible release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172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QA packet and named approver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record approve, revise or block with conditions and exceptions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release authorization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AI cannot self-approve external publication</a:t>
            </a:r>
          </a:p>
        </p:txBody>
      </p:sp>
    </p:spTree>
  </p:cSld>
  <p:clrMapOvr>
    <a:masterClrMapping/>
  </p:clrMapOvr>
  <p:transition spd="fast">
    <p:fade/>
  </p:transition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Responsible release decision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173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QA packet and named approver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record approve, revise or block with conditions and exceptions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release authorization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approval audit completeness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AI cannot self-approve external publication</a:t>
            </a:r>
          </a:p>
        </p:txBody>
      </p:sp>
    </p:spTree>
  </p:cSld>
  <p:clrMapOvr>
    <a:masterClrMapping/>
  </p:clrMapOvr>
  <p:transition spd="fast">
    <p:fade/>
  </p:transition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Responsible release decision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174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automatic release after generation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approval audit completeness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record approve, revise or block with conditions and exceptions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4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Responsible release decision · illustrative decision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175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755648"/>
          <a:ext cx="6583680" cy="4279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883664"/>
            <a:ext cx="4041648" cy="3986784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1883664"/>
            <a:ext cx="91440" cy="398678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048256"/>
            <a:ext cx="358444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CLASSROOM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496312"/>
            <a:ext cx="3584448" cy="32735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Illustrative scores only.</a:t>
            </a:r>
            <a:br/>
            <a:r>
              <a:t>Metric: approval audit completeness</a:t>
            </a:r>
            <a:br/>
            <a:r>
              <a:t>Compare against a pre-agreed release threshold; inspect evidence before approval.</a:t>
            </a:r>
          </a:p>
        </p:txBody>
      </p:sp>
    </p:spTree>
  </p:cSld>
  <p:clrMapOvr>
    <a:masterClrMapping/>
  </p:clrMapOvr>
  <p:transition spd="fast">
    <p:fade/>
  </p:transition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PRACTICE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Topic 4 · lab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176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LAB 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Bias, culture and factual integrity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LAB 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Authenticity, privacy and disclosure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</p:spTree>
  </p:cSld>
  <p:clrMapOvr>
    <a:masterClrMapping/>
  </p:clrMapOvr>
  <p:transition spd="fast">
    <p:push dir="r"/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LO5 · MED-MED-3004-1.1 AI CONTENT GENERATION FOR SCRIPT DEVELOPMENT-3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12648"/>
            <a:ext cx="11109960" cy="10241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rPr sz="2300"/>
              <a:t>Topic 5: Copyright, provenance and release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66420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177</a:t>
            </a:r>
          </a:p>
        </p:txBody>
      </p:sp>
      <p:pic>
        <p:nvPicPr>
          <p:cNvPr id="9" name="Picture 8" descr="rights-review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56231"/>
            <a:ext cx="6675120" cy="424281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98079" y="1856231"/>
            <a:ext cx="4187952" cy="4242816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304288"/>
            <a:ext cx="3547872" cy="2651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1">
                <a:solidFill>
                  <a:srgbClr val="182840"/>
                </a:solidFill>
                <a:latin typeface="Aptos"/>
              </a:defRPr>
            </a:pPr>
            <a:r>
              <a:t>LO5: Identify copyright risks in generative AI production and apply corrective actions to avoid copyright infringement.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404104"/>
            <a:ext cx="35661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500" b="1">
                <a:solidFill>
                  <a:srgbClr val="008B8B"/>
                </a:solidFill>
                <a:latin typeface="Aptos"/>
              </a:defRPr>
            </a:pPr>
            <a:r>
              <a:t>10 mechanisms · 2 labs</a:t>
            </a:r>
          </a:p>
        </p:txBody>
      </p:sp>
    </p:spTree>
  </p:cSld>
  <p:clrMapOvr>
    <a:masterClrMapping/>
  </p:clrMapOvr>
  <p:transition spd="fast">
    <p:push dir="r"/>
  </p:transition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Copyright subject-matter screen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178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script, image, audio and source manifest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identify protected expression, public-domain material, facts and ideas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rights classification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rights attach to expression, not a vague topic</a:t>
            </a:r>
          </a:p>
        </p:txBody>
      </p:sp>
    </p:spTree>
  </p:cSld>
  <p:clrMapOvr>
    <a:masterClrMapping/>
  </p:clrMapOvr>
  <p:transition spd="fast">
    <p:fade/>
  </p:transition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Copyright subject-matter screen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179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script, image, audio and source manifest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identify protected expression, public-domain material, facts and ideas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rights classification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classified asset rate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rights attach to expression, not a vague topic</a:t>
            </a:r>
          </a:p>
        </p:txBody>
      </p:sp>
    </p:spTree>
  </p:cSld>
  <p:clrMapOvr>
    <a:masterClrMapping/>
  </p:clrMapOvr>
  <p:transition spd="fast">
    <p:fade/>
  </p:transition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Copyright subject-matter screen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assuming online means free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classified asset rate.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Copyright subject-matter screen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script, image, audio and source manifest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rights classification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classified asset rate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Human authorship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182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creative decision log and final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separate machine proposals from human selection, arrangement and revision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authorship dossier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claim only demonstrable human contribution</a:t>
            </a:r>
          </a:p>
        </p:txBody>
      </p:sp>
    </p:spTree>
  </p:cSld>
  <p:clrMapOvr>
    <a:masterClrMapping/>
  </p:clrMapOvr>
  <p:transition spd="fast">
    <p:fade/>
  </p:transition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Human authorship evidence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183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SCENE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HL-S01 · version 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STORY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creative decision log and final 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CREATIVE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separate machine proposals from human selection, arrangement and revision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ARTIFACT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authorship dossier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HUMAN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decision evidence density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ACCEPT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claim only demonstrable human contribution</a:t>
            </a:r>
          </a:p>
        </p:txBody>
      </p:sp>
    </p:spTree>
  </p:cSld>
  <p:clrMapOvr>
    <a:masterClrMapping/>
  </p:clrMapOvr>
  <p:transition spd="fast">
    <p:fade/>
  </p:transition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Human authorship evidence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184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copyright claim over raw AI 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decision evidence density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separate machine proposals from human selection, arrangement and revision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Human authorship evidence · illustrative decision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185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755648"/>
          <a:ext cx="6583680" cy="4279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883664"/>
            <a:ext cx="4041648" cy="3986784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1883664"/>
            <a:ext cx="91440" cy="398678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048256"/>
            <a:ext cx="358444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CLASSROOM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496312"/>
            <a:ext cx="3584448" cy="32735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Illustrative scores only.</a:t>
            </a:r>
            <a:br/>
            <a:r>
              <a:t>Metric: decision evidence density</a:t>
            </a:r>
            <a:br/>
            <a:r>
              <a:t>Compare against a pre-agreed release threshold; inspect evidence before approval.</a:t>
            </a:r>
          </a:p>
        </p:txBody>
      </p:sp>
    </p:spTree>
  </p:cSld>
  <p:clrMapOvr>
    <a:masterClrMapping/>
  </p:clrMapOvr>
  <p:transition spd="fast">
    <p:fade/>
  </p:transition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Licence compatibility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186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asset licences and intended channels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compare permitted use, modification, attribution, territory and duration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licence matrix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block use outside licence scope</a:t>
            </a:r>
          </a:p>
        </p:txBody>
      </p:sp>
    </p:spTree>
  </p:cSld>
  <p:clrMapOvr>
    <a:masterClrMapping/>
  </p:clrMapOvr>
  <p:transition spd="fast">
    <p:fade/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Licence compatibility matrix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187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46504"/>
            <a:ext cx="519379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46504"/>
            <a:ext cx="91440" cy="42976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11095"/>
            <a:ext cx="473659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HARBOUR LIGHTS · STORY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59152"/>
            <a:ext cx="473659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Format: 90-second human-interest short</a:t>
            </a:r>
            <a:br/>
            <a:r>
              <a:t>Audience: Singapore adult learners</a:t>
            </a:r>
            <a:br/>
            <a:r>
              <a:t>Input: asset licences and intended channels</a:t>
            </a:r>
            <a:br/>
            <a:r>
              <a:t>Creative operation: compare permitted use, modification, attribution, territory and duration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0176" y="1746504"/>
            <a:ext cx="569671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0176" y="1746504"/>
            <a:ext cx="91440" cy="42976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911095"/>
            <a:ext cx="523951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STRUCTURED ARTIFACT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359152"/>
            <a:ext cx="523951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artifact_type: licence matrix</a:t>
            </a:r>
            <a:br/>
            <a:r>
              <a:t>story_id: HL-01</a:t>
            </a:r>
            <a:br/>
            <a:r>
              <a:t>review_owner: human creator</a:t>
            </a:r>
            <a:br/>
            <a:r>
              <a:t>accept_if: block use outside licence scope</a:t>
            </a:r>
          </a:p>
        </p:txBody>
      </p:sp>
    </p:spTree>
  </p:cSld>
  <p:clrMapOvr>
    <a:masterClrMapping/>
  </p:clrMapOvr>
  <p:transition spd="fast">
    <p:fade/>
  </p:transition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Licence compatibility matrix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188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incompatible or expired licence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compatible asset share.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Licence compatibility matrix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189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asset licences and intended channels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licence matrix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compatible asset share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Similarity and plagiarism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190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draft and reference corpus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inspect distinctive phrases, plot sequences, characters and visual composition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similarity report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rewrite or replace material with substantial expressive overlap</a:t>
            </a:r>
          </a:p>
        </p:txBody>
      </p:sp>
    </p:spTree>
  </p:cSld>
  <p:clrMapOvr>
    <a:masterClrMapping/>
  </p:clrMapOvr>
  <p:transition spd="fast">
    <p:fade/>
  </p:transition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Similarity and plagiarism review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191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draft and reference corpus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inspect distinctive phrases, plot sequences, characters and visual composition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similarity report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resolved match count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rewrite or replace material with substantial expressive overlap</a:t>
            </a:r>
          </a:p>
        </p:txBody>
      </p:sp>
    </p:spTree>
  </p:cSld>
  <p:clrMapOvr>
    <a:masterClrMapping/>
  </p:clrMapOvr>
  <p:transition spd="fast">
    <p:fade/>
  </p:transition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Similarity and plagiarism review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192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surface paraphrase of 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resolved match count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inspect distinctive phrases, plot sequences, characters and visual composition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Similarity and plagiarism review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193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story and scene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draft and reference corpus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similarity report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resolved match count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human approval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Style imitation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194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creator request and living-artist references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translate named style into generic visual attributes and original references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style-safe brief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avoid prompts seeking close imitation of a living creator</a:t>
            </a:r>
          </a:p>
        </p:txBody>
      </p:sp>
    </p:spTree>
  </p:cSld>
  <p:clrMapOvr>
    <a:masterClrMapping/>
  </p:clrMapOvr>
  <p:transition spd="fast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Style imitation risk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195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SCENE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HL-S01 · version 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STORY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creator request and living-artist references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CREATIVE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translate named style into generic visual attributes and original references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ARTIFACT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style-safe brief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HUMAN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named-creator prompt count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ACCEPT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avoid prompts seeking close imitation of a living creator</a:t>
            </a:r>
          </a:p>
        </p:txBody>
      </p:sp>
    </p:spTree>
  </p:cSld>
  <p:clrMapOvr>
    <a:masterClrMapping/>
  </p:clrMapOvr>
  <p:transition spd="fast">
    <p:fade/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Style imitation risk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196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signature-style mimicry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named-creator prompt count.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Style imitation risk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197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creator request and living-artist references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style-safe brief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named-creator prompt 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Music and voice rights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198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audio assets, performers and generation settings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record composition, recording, voice consent and synthetic-use permissions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audio rights ledger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each audio layer needs a valid rights basis</a:t>
            </a:r>
          </a:p>
        </p:txBody>
      </p:sp>
    </p:spTree>
  </p:cSld>
  <p:clrMapOvr>
    <a:masterClrMapping/>
  </p:clrMapOvr>
  <p:transition spd="fast">
    <p:fade/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Music and voice rights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199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46504"/>
            <a:ext cx="519379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46504"/>
            <a:ext cx="91440" cy="42976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11095"/>
            <a:ext cx="473659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HARBOUR LIGHTS · STORY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59152"/>
            <a:ext cx="473659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Format: 90-second human-interest short</a:t>
            </a:r>
            <a:br/>
            <a:r>
              <a:t>Audience: Singapore adult learners</a:t>
            </a:r>
            <a:br/>
            <a:r>
              <a:t>Input: audio assets, performers and generation settings</a:t>
            </a:r>
            <a:br/>
            <a:r>
              <a:t>Creative operation: record composition, recording, voice consent and synthetic-use permissions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0176" y="1746504"/>
            <a:ext cx="569671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0176" y="1746504"/>
            <a:ext cx="91440" cy="42976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911095"/>
            <a:ext cx="523951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STRUCTURED ARTIFACT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359152"/>
            <a:ext cx="523951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artifact_type: audio rights ledger</a:t>
            </a:r>
            <a:br/>
            <a:r>
              <a:t>story_id: HL-01</a:t>
            </a:r>
            <a:br/>
            <a:r>
              <a:t>review_owner: human creator</a:t>
            </a:r>
            <a:br/>
            <a:r>
              <a:t>accept_if: each audio layer needs a valid rights basis</a:t>
            </a:r>
          </a:p>
        </p:txBody>
      </p:sp>
    </p:spTree>
  </p:cSld>
  <p:clrMapOvr>
    <a:masterClrMapping/>
  </p:clrMapOvr>
  <p:transition spd="fast">
    <p:fade/>
  </p:transition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Music and voice rights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voice clone without consent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cleared audio share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record composition, recording, voice consent and synthetic-use permissions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Music and voice rights · illustrative decision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201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755648"/>
          <a:ext cx="6583680" cy="4279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883664"/>
            <a:ext cx="4041648" cy="3986784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1883664"/>
            <a:ext cx="91440" cy="398678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048256"/>
            <a:ext cx="358444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CLASSROOM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496312"/>
            <a:ext cx="3584448" cy="32735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Illustrative scores only.</a:t>
            </a:r>
            <a:br/>
            <a:r>
              <a:t>Metric: cleared audio share</a:t>
            </a:r>
            <a:br/>
            <a:r>
              <a:t>Compare against a pre-agreed release threshold; inspect evidence before approval.</a:t>
            </a:r>
          </a:p>
        </p:txBody>
      </p:sp>
    </p:spTree>
  </p:cSld>
  <p:clrMapOvr>
    <a:masterClrMapping/>
  </p:clrMapOvr>
  <p:transition spd="fast">
    <p:fade/>
  </p:transition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Provenance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all final media assets and generation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store source, tool, prompt hash, editor, version, licence and disclosure 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provenance package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no asset without owner and origin enters export</a:t>
            </a:r>
          </a:p>
        </p:txBody>
      </p:sp>
    </p:spTree>
  </p:cSld>
  <p:clrMapOvr>
    <a:masterClrMapping/>
  </p:clrMapOvr>
  <p:transition spd="fast">
    <p:fade/>
  </p:transition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Provenance manifest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all final media assets and generation records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store source, tool, prompt hash, editor, version, licence and disclosure status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provenance package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manifest completeness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no asset without owner and origin enters export</a:t>
            </a:r>
          </a:p>
        </p:txBody>
      </p:sp>
    </p:spTree>
  </p:cSld>
  <p:clrMapOvr>
    <a:masterClrMapping/>
  </p:clrMapOvr>
  <p:transition spd="fast">
    <p:fade/>
  </p:transition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Provenance manifest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lost source trail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manifest completeness.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Provenance manifest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all final media assets and generation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provenance package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manifest completeness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Correction and takedown route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published asset and rights contacts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define complaint intake, evidence hold, decision owner and replacement path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remediation plan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pause distribution on credible high-risk complaint</a:t>
            </a:r>
          </a:p>
        </p:txBody>
      </p:sp>
    </p:spTree>
  </p:cSld>
  <p:clrMapOvr>
    <a:masterClrMapping/>
  </p:clrMapOvr>
  <p:transition spd="fast">
    <p:fade/>
  </p:transition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Correction and takedown route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SCENE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HL-S01 · version 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STORY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published asset and rights contacts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CREATIVE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define complaint intake, evidence hold, decision owner and replacement path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ARTIFACT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remediation plan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HUMAN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response time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ACCEPT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pause distribution on credible high-risk complaint</a:t>
            </a:r>
          </a:p>
        </p:txBody>
      </p:sp>
    </p:spTree>
  </p:cSld>
  <p:clrMapOvr>
    <a:masterClrMapping/>
  </p:clrMapOvr>
  <p:transition spd="fast">
    <p:fade/>
  </p:transition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Correction and takedown route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no accountable response path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response 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define complaint intake, evidence hold, decision owner and replacement path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Correction and takedown route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209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story and scene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published asset and rights contacts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remediation plan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response 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OWNER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human approval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Platform and client terms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current tool terms and production 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compare commercial use, retention, training and indemnity terms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terms 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use only tools approved for the content class</a:t>
            </a:r>
          </a:p>
        </p:txBody>
      </p:sp>
    </p:spTree>
  </p:cSld>
  <p:clrMapOvr>
    <a:masterClrMapping/>
  </p:clrMapOvr>
  <p:transition spd="fast">
    <p:fade/>
  </p:transition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Platform and client terms check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46504"/>
            <a:ext cx="519379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46504"/>
            <a:ext cx="91440" cy="42976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11095"/>
            <a:ext cx="473659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HARBOUR LIGHTS · STORY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59152"/>
            <a:ext cx="473659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Format: 90-second human-interest short</a:t>
            </a:r>
            <a:br/>
            <a:r>
              <a:t>Audience: Singapore adult learners</a:t>
            </a:r>
            <a:br/>
            <a:r>
              <a:t>Input: current tool terms and production brief</a:t>
            </a:r>
            <a:br/>
            <a:r>
              <a:t>Creative operation: compare commercial use, retention, training and indemnity terms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0176" y="1746504"/>
            <a:ext cx="5696712" cy="42976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0176" y="1746504"/>
            <a:ext cx="91440" cy="42976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911095"/>
            <a:ext cx="5239512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STRUCTURED ARTIFACT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359152"/>
            <a:ext cx="5239512" cy="35844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700" b="0">
                <a:solidFill>
                  <a:srgbClr val="1D2A37"/>
                </a:solidFill>
                <a:latin typeface="Aptos"/>
              </a:defRPr>
            </a:pPr>
            <a:r>
              <a:t>artifact_type: terms review</a:t>
            </a:r>
            <a:br/>
            <a:r>
              <a:t>story_id: HL-01</a:t>
            </a:r>
            <a:br/>
            <a:r>
              <a:t>review_owner: human creator</a:t>
            </a:r>
            <a:br/>
            <a:r>
              <a:t>accept_if: use only tools approved for the content class</a:t>
            </a:r>
          </a:p>
        </p:txBody>
      </p:sp>
    </p:spTree>
  </p:cSld>
  <p:clrMapOvr>
    <a:masterClrMapping/>
  </p:clrMapOvr>
  <p:transition spd="fast">
    <p:fade/>
  </p:transition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Platform and client terms check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783080"/>
            <a:ext cx="5230368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1783080"/>
            <a:ext cx="91440" cy="416052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947672"/>
            <a:ext cx="477316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395728"/>
            <a:ext cx="4773168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rights assumption based on marketing claim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7608" y="1783080"/>
            <a:ext cx="5669280" cy="416052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07608" y="1783080"/>
            <a:ext cx="91440" cy="416052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947672"/>
            <a:ext cx="5212080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REVIEW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395728"/>
            <a:ext cx="5212080" cy="34472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Check terms attestation.</a:t>
            </a:r>
            <a:br/>
            <a:r>
              <a:t>Record source, owner and outcome.</a:t>
            </a:r>
            <a:br/>
            <a:r>
              <a:t>Return to the producing agent when the contract fails.</a:t>
            </a:r>
          </a:p>
        </p:txBody>
      </p:sp>
    </p:spTree>
  </p:cSld>
  <p:clrMapOvr>
    <a:masterClrMapping/>
  </p:clrMapOvr>
  <p:transition spd="fast">
    <p:fade/>
  </p:transition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Platform and client terms check ·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current tool terms and production 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terms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terms attestation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212080"/>
            <a:ext cx="11201400" cy="841248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413248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600" b="1">
                <a:solidFill>
                  <a:srgbClr val="182840"/>
                </a:solidFill>
                <a:latin typeface="Aptos"/>
              </a:defRPr>
            </a:pPr>
            <a:r>
              <a:t>Evidence record: story_id · scene_id · artifact_version · source_ids · owner · approval_status</a:t>
            </a:r>
          </a:p>
        </p:txBody>
      </p:sp>
    </p:spTree>
  </p:cSld>
  <p:clrMapOvr>
    <a:masterClrMapping/>
  </p:clrMapOvr>
  <p:transition spd="fast">
    <p:fade/>
  </p:transition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Final release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approved script, cut, rights and QA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verify version, captions, disclosures, permissions and destination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release packet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5175504"/>
            <a:ext cx="11201400" cy="841248"/>
          </a:xfrm>
          <a:prstGeom prst="round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404104"/>
            <a:ext cx="1060704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ptos"/>
              </a:defRPr>
            </a:pPr>
            <a:r>
              <a:t>Decision rule: all mandatory gates must pass</a:t>
            </a:r>
          </a:p>
        </p:txBody>
      </p:sp>
    </p:spTree>
  </p:cSld>
  <p:clrMapOvr>
    <a:masterClrMapping/>
  </p:clrMapOvr>
  <p:transition spd="fast">
    <p:fade/>
  </p:transition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Final release checklist · worked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215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331720"/>
            <a:ext cx="10561320" cy="5486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7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approved script, cut, rights and QA records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444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44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14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5777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verify version, captions, disclosures, permissions and destination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04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04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75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release packet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1651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1651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359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787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release-gate pass rate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02568" y="2103120"/>
            <a:ext cx="502920" cy="50292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02568" y="2176272"/>
            <a:ext cx="502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99648" y="2816352"/>
            <a:ext cx="15087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200" b="1">
                <a:solidFill>
                  <a:srgbClr val="182840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3182111"/>
            <a:ext cx="16002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000" b="0">
                <a:solidFill>
                  <a:srgbClr val="1D2A37"/>
                </a:solidFill>
                <a:latin typeface="Aptos"/>
              </a:defRPr>
            </a:pPr>
            <a:r>
              <a:t>all mandatory gates must pass</a:t>
            </a:r>
          </a:p>
        </p:txBody>
      </p:sp>
    </p:spTree>
  </p:cSld>
  <p:clrMapOvr>
    <a:masterClrMapping/>
  </p:clrMapOvr>
  <p:transition spd="fast">
    <p:fade/>
  </p:transition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Final release checklist · failure and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correct file sent to wrong audience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02  MEASURE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release-gate pass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719072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883664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03  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22576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scene, line, frame or asset 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04 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verify version, captions, disclosures, permissions and destination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05  RETEST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same criterion and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749039"/>
            <a:ext cx="3401568" cy="1719072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913631"/>
            <a:ext cx="2971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1">
                <a:solidFill>
                  <a:srgbClr val="008B8B"/>
                </a:solidFill>
                <a:latin typeface="Aptos"/>
              </a:defRPr>
            </a:pPr>
            <a:r>
              <a:t>06  DISPOSITION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352544"/>
            <a:ext cx="2971800" cy="8046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200" b="0">
                <a:solidFill>
                  <a:srgbClr val="1D2A37"/>
                </a:solidFill>
                <a:latin typeface="Aptos"/>
              </a:defRPr>
            </a:pPr>
            <a:r>
              <a:t>PASS · REVISE · BLOCK</a:t>
            </a:r>
          </a:p>
        </p:txBody>
      </p:sp>
    </p:spTree>
  </p:cSld>
  <p:clrMapOvr>
    <a:masterClrMapping/>
  </p:clrMapOvr>
  <p:transition spd="fast">
    <p:fade/>
  </p:transition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TOPIC 5 · MECHANISM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Final release checklist · illustrative decision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217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755648"/>
          <a:ext cx="6583680" cy="42793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883664"/>
            <a:ext cx="4041648" cy="3986784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1883664"/>
            <a:ext cx="91440" cy="3986784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048256"/>
            <a:ext cx="3584448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CLASSROOM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496312"/>
            <a:ext cx="3584448" cy="32735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Illustrative scores only.</a:t>
            </a:r>
            <a:br/>
            <a:r>
              <a:t>Metric: release-gate pass rate</a:t>
            </a:r>
            <a:br/>
            <a:r>
              <a:t>Compare against a pre-agreed release threshold; inspect evidence before approval.</a:t>
            </a:r>
          </a:p>
        </p:txBody>
      </p:sp>
    </p:spTree>
  </p:cSld>
  <p:clrMapOvr>
    <a:masterClrMapping/>
  </p:clrMapOvr>
  <p:transition spd="fast">
    <p:fade/>
  </p:transition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PRACTICE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Topic 5 · lab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LAB 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Rights, licences and similarity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LAB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Provenance and final release packet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</p:spTree>
  </p:cSld>
  <p:clrMapOvr>
    <a:masterClrMapping/>
  </p:clrMapOvr>
  <p:transition spd="fast">
    <p:push dir="r"/>
  </p:transition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ASSESSMENT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Written and practical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WA · 60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Ten open-ended questions cover K1–K10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PP · 60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Three tasks cover A1–A9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SUBMIT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Upload candidate papers through LMS-TMS</a:t>
            </a:r>
          </a:p>
        </p:txBody>
      </p:sp>
    </p:spTree>
  </p:cSld>
  <p:clrMapOvr>
    <a:masterClrMapping/>
  </p:clrMapOvr>
  <p:transition spd="fast">
    <p:fade/>
  </p:transition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Assessment evidence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Knowledge evidence K1–K10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Practical evidence A1–A9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SIGN-OFF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Assessor reviews and records C / NYC</a:t>
            </a:r>
          </a:p>
        </p:txBody>
      </p:sp>
    </p:spTree>
  </p:cSld>
  <p:clrMapOvr>
    <a:masterClrMapping/>
  </p:clrMapOvr>
  <p:transition spd="fast">
    <p:fade/>
  </p:transition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TRAQOM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Digital attendance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057400"/>
            <a:ext cx="91440" cy="269748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008B8B"/>
                </a:solidFill>
                <a:latin typeface="Aptos"/>
              </a:defRPr>
            </a:pPr>
            <a:r>
              <a:t>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Scan the trainer-provided QR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5448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057400"/>
            <a:ext cx="91440" cy="2697480"/>
          </a:xfrm>
          <a:prstGeom prst="rect">
            <a:avLst/>
          </a:prstGeom>
          <a:solidFill>
            <a:srgbClr val="1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520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182840"/>
                </a:solidFill>
                <a:latin typeface="Aptos"/>
              </a:defRPr>
            </a:pPr>
            <a:r>
              <a:t>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Record second session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880" y="3081528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2800" b="1">
                <a:solidFill>
                  <a:srgbClr val="E86C5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0352" y="2057400"/>
            <a:ext cx="3526536" cy="2697480"/>
          </a:xfrm>
          <a:prstGeom prst="round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0352" y="2057400"/>
            <a:ext cx="91440" cy="2697480"/>
          </a:xfrm>
          <a:prstGeom prst="rect">
            <a:avLst/>
          </a:prstGeom>
          <a:solidFill>
            <a:srgbClr val="E86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8952" y="2221992"/>
            <a:ext cx="3069336" cy="329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400" b="1">
                <a:solidFill>
                  <a:srgbClr val="E86C54"/>
                </a:solidFill>
                <a:latin typeface="Aptos"/>
              </a:defRPr>
            </a:pPr>
            <a:r>
              <a:t>ASSESSMENT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8952" y="2670048"/>
            <a:ext cx="3069336" cy="19842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900" b="0">
                <a:solidFill>
                  <a:srgbClr val="1D2A37"/>
                </a:solidFill>
                <a:latin typeface="Aptos"/>
              </a:defRPr>
            </a:pPr>
            <a:r>
              <a:t>Record assessment attendance</a:t>
            </a:r>
          </a:p>
        </p:txBody>
      </p:sp>
    </p:spTree>
  </p:cSld>
  <p:clrMapOvr>
    <a:masterClrMapping/>
  </p:clrMapOvr>
  <p:transition spd="fast">
    <p:fade/>
  </p:transition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56032"/>
            <a:ext cx="10972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100" b="1">
                <a:solidFill>
                  <a:srgbClr val="008B8B"/>
                </a:solidFill>
                <a:latin typeface="Aptos"/>
              </a:defRPr>
            </a:pPr>
            <a: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640080"/>
            <a:ext cx="11155680" cy="7132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000" b="1">
                <a:solidFill>
                  <a:srgbClr val="182840"/>
                </a:solidFill>
                <a:latin typeface="Aptos"/>
              </a:defRPr>
            </a:pPr>
            <a: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01400" cy="22860"/>
          </a:xfrm>
          <a:prstGeom prst="rect">
            <a:avLst/>
          </a:prstGeom>
          <a:solidFill>
            <a:srgbClr val="F1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6510528"/>
            <a:ext cx="8229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800" b="0">
                <a:solidFill>
                  <a:srgbClr val="536570"/>
                </a:solidFill>
                <a:latin typeface="Aptos"/>
              </a:defRPr>
            </a:pPr>
            <a:r>
              <a:t>TGS-2025056983 · Generative AI for Script Development and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>
              <a:defRPr sz="900" b="1">
                <a:solidFill>
                  <a:srgbClr val="008B8B"/>
                </a:solidFill>
                <a:latin typeface="Aptos"/>
              </a:defRPr>
            </a:pPr>
            <a:r>
              <a:t>222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04288"/>
            <a:ext cx="10881360" cy="11430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3400" b="1">
                <a:solidFill>
                  <a:srgbClr val="182840"/>
                </a:solidFill>
                <a:latin typeface="Aptos"/>
              </a:defRPr>
            </a:pPr>
            <a:r>
              <a:t>Carry your human creative intent from premise to final frame.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88136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2100" b="0">
                <a:solidFill>
                  <a:srgbClr val="008B8B"/>
                </a:solidFill>
                <a:latin typeface="Aptos"/>
              </a:defRPr>
            </a:pPr>
            <a:r>
              <a:t>enquiry@tertiaryinfotech.com  ·  +65 6100 0613</a:t>
            </a: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